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1d1a59218484f" /><Relationship Type="http://schemas.openxmlformats.org/officeDocument/2006/relationships/extended-properties" Target="/docProps/app.xml" Id="Rb5c41fa82c3b4860" /><Relationship Type="http://schemas.openxmlformats.org/officeDocument/2006/relationships/officeDocument" Target="/ppt/presentation.xml" Id="R16b76e14caa2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c2f12d83a42c1"/>
  </p:sldMasterIdLst>
  <p:notesMasterIdLst>
    <p:notesMasterId xmlns:r="http://schemas.openxmlformats.org/officeDocument/2006/relationships" r:id="Rab92caab302e40e5"/>
  </p:notesMasterIdLst>
  <p:sldIdLst>
    <p:sldId xmlns:r="http://schemas.openxmlformats.org/officeDocument/2006/relationships" id="256" r:id="R6d9803992cf944b3"/>
    <p:sldId xmlns:r="http://schemas.openxmlformats.org/officeDocument/2006/relationships" id="257" r:id="Rf541e0a08d9546b5"/>
    <p:sldId xmlns:r="http://schemas.openxmlformats.org/officeDocument/2006/relationships" id="258" r:id="Rc292473833a84de3"/>
    <p:sldId xmlns:r="http://schemas.openxmlformats.org/officeDocument/2006/relationships" id="259" r:id="R5be3f76d95a646e4"/>
    <p:sldId xmlns:r="http://schemas.openxmlformats.org/officeDocument/2006/relationships" id="260" r:id="R4d77c057b8e64d53"/>
    <p:sldId xmlns:r="http://schemas.openxmlformats.org/officeDocument/2006/relationships" id="261" r:id="R274ea70c2670479c"/>
    <p:sldId xmlns:r="http://schemas.openxmlformats.org/officeDocument/2006/relationships" id="262" r:id="R1da07e7741ae49d9"/>
    <p:sldId xmlns:r="http://schemas.openxmlformats.org/officeDocument/2006/relationships" id="263" r:id="R881f8d475f764704"/>
    <p:sldId xmlns:r="http://schemas.openxmlformats.org/officeDocument/2006/relationships" id="264" r:id="R491b9c61389645ff"/>
    <p:sldId xmlns:r="http://schemas.openxmlformats.org/officeDocument/2006/relationships" id="265" r:id="R4e317ecfcea242ed"/>
    <p:sldId xmlns:r="http://schemas.openxmlformats.org/officeDocument/2006/relationships" id="266" r:id="Rb9eff618a1fc41e4"/>
    <p:sldId xmlns:r="http://schemas.openxmlformats.org/officeDocument/2006/relationships" id="267" r:id="R19189fac4e3f48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7de42f00b64f50" /><Relationship Type="http://schemas.openxmlformats.org/officeDocument/2006/relationships/slideMaster" Target="/ppt/slideMasters/slideMaster1.xml" Id="Rcaac2f12d83a42c1" /><Relationship Type="http://schemas.openxmlformats.org/officeDocument/2006/relationships/notesMaster" Target="/ppt/notesMasters/notesMaster1.xml" Id="Rab92caab302e40e5" /><Relationship Type="http://schemas.openxmlformats.org/officeDocument/2006/relationships/presProps" Target="/ppt/presProps.xml" Id="R5709c13b9c48412f" /><Relationship Type="http://schemas.openxmlformats.org/officeDocument/2006/relationships/tableStyles" Target="/ppt/tableStyles.xml" Id="R0e8df7036cd74312" /><Relationship Type="http://schemas.openxmlformats.org/officeDocument/2006/relationships/slide" Target="/ppt/slides/slide1.xml" Id="R6d9803992cf944b3" /><Relationship Type="http://schemas.openxmlformats.org/officeDocument/2006/relationships/slide" Target="/ppt/slides/slide2.xml" Id="Rf541e0a08d9546b5" /><Relationship Type="http://schemas.openxmlformats.org/officeDocument/2006/relationships/slide" Target="/ppt/slides/slide3.xml" Id="Rc292473833a84de3" /><Relationship Type="http://schemas.openxmlformats.org/officeDocument/2006/relationships/slide" Target="/ppt/slides/slide4.xml" Id="R5be3f76d95a646e4" /><Relationship Type="http://schemas.openxmlformats.org/officeDocument/2006/relationships/slide" Target="/ppt/slides/slide5.xml" Id="R4d77c057b8e64d53" /><Relationship Type="http://schemas.openxmlformats.org/officeDocument/2006/relationships/slide" Target="/ppt/slides/slide6.xml" Id="R274ea70c2670479c" /><Relationship Type="http://schemas.openxmlformats.org/officeDocument/2006/relationships/slide" Target="/ppt/slides/slide7.xml" Id="R1da07e7741ae49d9" /><Relationship Type="http://schemas.openxmlformats.org/officeDocument/2006/relationships/slide" Target="/ppt/slides/slide8.xml" Id="R881f8d475f764704" /><Relationship Type="http://schemas.openxmlformats.org/officeDocument/2006/relationships/slide" Target="/ppt/slides/slide9.xml" Id="R491b9c61389645ff" /><Relationship Type="http://schemas.openxmlformats.org/officeDocument/2006/relationships/slide" Target="/ppt/slides/slide10.xml" Id="R4e317ecfcea242ed" /><Relationship Type="http://schemas.openxmlformats.org/officeDocument/2006/relationships/slide" Target="/ppt/slides/slide11.xml" Id="Rb9eff618a1fc41e4" /><Relationship Type="http://schemas.openxmlformats.org/officeDocument/2006/relationships/slide" Target="/ppt/slides/slide12.xml" Id="R19189fac4e3f48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243ca8ba9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f355738b354533" /><Relationship Type="http://schemas.openxmlformats.org/officeDocument/2006/relationships/notesMaster" Target="/ppt/notesMasters/notesMaster1.xml" Id="Re1eca4a82cbc48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24a81dfec4c22" /><Relationship Type="http://schemas.openxmlformats.org/officeDocument/2006/relationships/notesMaster" Target="/ppt/notesMasters/notesMaster1.xml" Id="R76337452ba5c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f84666618842b3" /><Relationship Type="http://schemas.openxmlformats.org/officeDocument/2006/relationships/notesMaster" Target="/ppt/notesMasters/notesMaster1.xml" Id="Rf3be81cca67c48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78ade58ad445c5" /><Relationship Type="http://schemas.openxmlformats.org/officeDocument/2006/relationships/notesMaster" Target="/ppt/notesMasters/notesMaster1.xml" Id="Rfbab69bbf8e74f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d0306e82e4b86" /><Relationship Type="http://schemas.openxmlformats.org/officeDocument/2006/relationships/notesMaster" Target="/ppt/notesMasters/notesMaster1.xml" Id="Rf8b1cae0a99546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676b59a4842ba" /><Relationship Type="http://schemas.openxmlformats.org/officeDocument/2006/relationships/notesMaster" Target="/ppt/notesMasters/notesMaster1.xml" Id="Re2d75f1c45c748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cc3fbd208b4694" /><Relationship Type="http://schemas.openxmlformats.org/officeDocument/2006/relationships/notesMaster" Target="/ppt/notesMasters/notesMaster1.xml" Id="R37690f96bfb449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762d53b5374978" /><Relationship Type="http://schemas.openxmlformats.org/officeDocument/2006/relationships/notesMaster" Target="/ppt/notesMasters/notesMaster1.xml" Id="Rc6f47f4a248a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0f837c3bb64ac0" /><Relationship Type="http://schemas.openxmlformats.org/officeDocument/2006/relationships/notesMaster" Target="/ppt/notesMasters/notesMaster1.xml" Id="Rf7765c61b7334a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d129883fc94bfd" /><Relationship Type="http://schemas.openxmlformats.org/officeDocument/2006/relationships/notesMaster" Target="/ppt/notesMasters/notesMaster1.xml" Id="Ra5f40e9feddf4f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c019291c894c1c" /><Relationship Type="http://schemas.openxmlformats.org/officeDocument/2006/relationships/notesMaster" Target="/ppt/notesMasters/notesMaster1.xml" Id="R1bd2903aa45a4f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98c8ce9de74cb4" /><Relationship Type="http://schemas.openxmlformats.org/officeDocument/2006/relationships/notesMaster" Target="/ppt/notesMasters/notesMaster1.xml" Id="R7b97f850138541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FloorGuide prototype and Scenario 1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and workflow design decisions.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architecture visual: docs/floorguide-endpoint-architecture-v2/slide-1.png.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endpoints/data/safety_procedures.md; endpoints/data/maintenance_manual.md; endpoints/data/quality_control_standards.md.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response-mode and citation policy.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screenshot of the deployed FloorGuide processing state.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screenshot of the deployed decisive-answer state.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screenshot of grounding explanation and human feedback controls.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endpoints/evals/latest_report.md; endpoints/evals/latest_results.json.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endpoints/evals/latest_report.md; endpoints/evals/latest_results.json; endpoints/evals/benchmark.json.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endpoints/evals/latest_report.md; endpoints/evals/latest_results.json.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prototype findings and benchmark recommendations.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870e74e8745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820268c6f4b61" /><Relationship Type="http://schemas.openxmlformats.org/officeDocument/2006/relationships/slideLayout" Target="/ppt/slideLayouts/slideLayout1.xml" Id="Rb33c5f1de23541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3c5f1de235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f359887c14499" /><Relationship Type="http://schemas.openxmlformats.org/officeDocument/2006/relationships/notesSlide" Target="/ppt/notesSlides/notesSlide1.xml" Id="R963006c4bcac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e710e8dcd45aa" /><Relationship Type="http://schemas.openxmlformats.org/officeDocument/2006/relationships/notesSlide" Target="/ppt/notesSlides/notesSlide2.xml" Id="R9b663d12a98f4d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27a1be6664c6a" /><Relationship Type="http://schemas.openxmlformats.org/officeDocument/2006/relationships/image" Target="/ppt/media/image.png" Id="Rf3b235d1c4db46c8" /><Relationship Type="http://schemas.openxmlformats.org/officeDocument/2006/relationships/notesSlide" Target="/ppt/notesSlides/notesSlide3.xml" Id="R9576766de9db4b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1cff112d4272" /><Relationship Type="http://schemas.openxmlformats.org/officeDocument/2006/relationships/notesSlide" Target="/ppt/notesSlides/notesSlide4.xml" Id="Reccb7f3e63e74c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a8a8d2c6c4f64" /><Relationship Type="http://schemas.openxmlformats.org/officeDocument/2006/relationships/notesSlide" Target="/ppt/notesSlides/notesSlide5.xml" Id="R3f04e7a6d71244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737cae4114cad" /><Relationship Type="http://schemas.openxmlformats.org/officeDocument/2006/relationships/image" Target="/ppt/media/image2.png" Id="R2caa1f2c6a3c4770" /><Relationship Type="http://schemas.openxmlformats.org/officeDocument/2006/relationships/notesSlide" Target="/ppt/notesSlides/notesSlide6.xml" Id="Rb3444204d16142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ea85e12de4736" /><Relationship Type="http://schemas.openxmlformats.org/officeDocument/2006/relationships/image" Target="/ppt/media/image3.png" Id="R23c3c896d255435a" /><Relationship Type="http://schemas.openxmlformats.org/officeDocument/2006/relationships/notesSlide" Target="/ppt/notesSlides/notesSlide7.xml" Id="R6a7298c040b144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7658a383c46c7" /><Relationship Type="http://schemas.openxmlformats.org/officeDocument/2006/relationships/image" Target="/ppt/media/image4.png" Id="R296050bddfe944d9" /><Relationship Type="http://schemas.openxmlformats.org/officeDocument/2006/relationships/notesSlide" Target="/ppt/notesSlides/notesSlide8.xml" Id="R4e33c0ecd49649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f2f8c06044c39" /><Relationship Type="http://schemas.openxmlformats.org/officeDocument/2006/relationships/chart" Target="/ppt/slides/charts/chart1.xml" Id="Reff316bf84f1452e" /><Relationship Type="http://schemas.openxmlformats.org/officeDocument/2006/relationships/notesSlide" Target="/ppt/notesSlides/notesSlide9.xml" Id="R8e8d6cf4d70b4c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e1f21f71f4180" /><Relationship Type="http://schemas.openxmlformats.org/officeDocument/2006/relationships/chart" Target="/ppt/slides/charts/chart2.xml" Id="R8506e2f48dbe4b83" /><Relationship Type="http://schemas.openxmlformats.org/officeDocument/2006/relationships/notesSlide" Target="/ppt/notesSlides/notesSlide10.xml" Id="R25c63d42a42042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bab60945a487a" /><Relationship Type="http://schemas.openxmlformats.org/officeDocument/2006/relationships/chart" Target="/ppt/slides/charts/chart3.xml" Id="R19f94fb58f284ecd" /><Relationship Type="http://schemas.openxmlformats.org/officeDocument/2006/relationships/notesSlide" Target="/ppt/notesSlides/notesSlide11.xml" Id="R7366e5bea7844c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27ac2bdaa485d" /><Relationship Type="http://schemas.openxmlformats.org/officeDocument/2006/relationships/notesSlide" Target="/ppt/notesSlides/notesSlide12.xml" Id="R35ae4295fa0349c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Benchmark score</c:v>
          </c:tx>
          <c:spPr>
            <a:solidFill xmlns:a="http://schemas.openxmlformats.org/drawingml/2006/main">
              <a:srgbClr val="2672FF"/>
            </a:solidFill>
          </c:spPr>
          <c:cat>
            <c:strLit>
              <c:ptCount val="5"/>
              <c:pt idx="0">
                <c:v>Motor safety</c:v>
              </c:pt>
              <c:pt idx="1">
                <c:v>Guarded jam</c:v>
              </c:pt>
              <c:pt idx="2">
                <c:v>Sealer restart</c:v>
              </c:pt>
              <c:pt idx="3">
                <c:v>Lot code</c:v>
              </c:pt>
              <c:pt idx="4">
                <c:v>Missing torque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100</c:v>
              </c:pt>
              <c:pt idx="2">
                <c:v>83</c:v>
              </c:pt>
              <c:pt idx="3">
                <c:v>100</c:v>
              </c:pt>
              <c:pt idx="4">
                <c:v>50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0D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0">
              <a:noFill/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E206EB2-14BE-47E5-B36E-59EEF369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B4DA6FD-3A63-4E7E-8F9F-24A8C872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EXECUTIVE PROTOTYPE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880E52F-A098-45D0-B84D-24E27F0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01828"/>
                </a:solidFill>
              </a:defRPr>
            </a:pPr>
            <a:r>
              <a:rPr sz="4650" b="1">
                <a:solidFill>
                  <a:srgbClr val="101828"/>
                </a:solidFill>
              </a:rPr>
              <a:t>FloorGuide AI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76EE87-862A-48F8-B9FE-7737CDB2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085"/>
                </a:solidFill>
              </a:defRPr>
            </a:pPr>
            <a:r>
              <a:rPr sz="2250" b="0">
                <a:solidFill>
                  <a:srgbClr val="667085"/>
                </a:solidFill>
              </a:rPr>
              <a:t>Grounded, verifiable guidance for plant-floor decisions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CBBF2B9E-692B-4ABC-B89F-79C8EC77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85800"/>
            <a:ext cx="3362325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ield-1">
            <a:extLst xmlns:a="http://schemas.openxmlformats.org/drawingml/2006/main">
              <a:ext uri="{FF2B5EF4-FFF2-40B4-BE49-F238E27FC236}">
                <a16:creationId xmlns:a16="http://schemas.microsoft.com/office/drawing/2014/main" id="{30C990C8-86E7-4EA7-90A9-CBB2DB6B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1049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ASK</a:t>
            </a:r>
          </a:p>
        </p:txBody>
      </p:sp>
      <p:sp>
        <p:nvSpPr>
          <p:cNvPr id="7" name="cover-field-2">
            <a:extLst xmlns:a="http://schemas.openxmlformats.org/drawingml/2006/main">
              <a:ext uri="{FF2B5EF4-FFF2-40B4-BE49-F238E27FC236}">
                <a16:creationId xmlns:a16="http://schemas.microsoft.com/office/drawing/2014/main" id="{36156646-BB3F-4CF6-B4A7-6B71F436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Route to the right operational knowledge</a:t>
            </a:r>
          </a:p>
        </p:txBody>
      </p:sp>
      <p:sp>
        <p:nvSpPr>
          <p:cNvPr id="8" name="cover-field-rule">
            <a:extLst xmlns:a="http://schemas.openxmlformats.org/drawingml/2006/main">
              <a:ext uri="{FF2B5EF4-FFF2-40B4-BE49-F238E27FC236}">
                <a16:creationId xmlns:a16="http://schemas.microsoft.com/office/drawing/2014/main" id="{F5ECDAE6-EA27-4F18-8295-E5A267A9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908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field-3">
            <a:extLst xmlns:a="http://schemas.openxmlformats.org/drawingml/2006/main">
              <a:ext uri="{FF2B5EF4-FFF2-40B4-BE49-F238E27FC236}">
                <a16:creationId xmlns:a16="http://schemas.microsoft.com/office/drawing/2014/main" id="{714A38B4-FA34-42B1-8EA9-B000922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14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ANSWER</a:t>
            </a:r>
          </a:p>
        </p:txBody>
      </p:sp>
      <p:sp>
        <p:nvSpPr>
          <p:cNvPr id="10" name="cover-field-4">
            <a:extLst xmlns:a="http://schemas.openxmlformats.org/drawingml/2006/main">
              <a:ext uri="{FF2B5EF4-FFF2-40B4-BE49-F238E27FC236}">
                <a16:creationId xmlns:a16="http://schemas.microsoft.com/office/drawing/2014/main" id="{0C4EA196-F238-4E09-87D7-41C6BE2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Return one actionable response with evidence</a:t>
            </a:r>
          </a:p>
        </p:txBody>
      </p:sp>
      <p:sp>
        <p:nvSpPr>
          <p:cNvPr id="11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700EE905-5426-4245-A5CB-D7BE0C0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Agentic Forward-Deployed Engineer prototype · Scenario 1</a:t>
            </a:r>
          </a:p>
        </p:txBody>
      </p:sp>
    </p:spTree>
    <p:extLst>
      <p:ext uri="{BB962C8B-B14F-4D97-AF65-F5344CB8AC3E}">
        <p14:creationId xmlns:p14="http://schemas.microsoft.com/office/powerpoint/2010/main" val="576959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EXECUTIVE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Fragmented guidance becomes a defensible decision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Today’s friction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A supervisor must interpret safety procedures, maintenance manuals, and quality standards—often under time pressure.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>→</a:t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>FloorGuide response</a:t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One recommended action by default</a:t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Grounded in the relevant documents, scored for evidence support, and linked to the exact source sections.</a:t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Human approval remains the final control point.</a:t>
            </a:r>
          </a:p>
        </p:txBody>
      </p:sp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235d1c4db46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78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B5AAC31E-623E-4035-AA3B-47E70B80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CONTEXT DESIGN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0276579-FD55-4751-AB10-10892FF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Compact context makes answers grounded and auditable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60BA37A-B197-4345-AF6B-8EFF9395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24E1EC5-8C0F-4329-8D81-53513F8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5" name="doc-rule-0">
            <a:extLst xmlns:a="http://schemas.openxmlformats.org/drawingml/2006/main">
              <a:ext uri="{FF2B5EF4-FFF2-40B4-BE49-F238E27FC236}">
                <a16:creationId xmlns:a16="http://schemas.microsoft.com/office/drawing/2014/main" id="{10D72019-06F2-47F7-8E88-CE04B129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c-type-0">
            <a:extLst xmlns:a="http://schemas.openxmlformats.org/drawingml/2006/main">
              <a:ext uri="{FF2B5EF4-FFF2-40B4-BE49-F238E27FC236}">
                <a16:creationId xmlns:a16="http://schemas.microsoft.com/office/drawing/2014/main" id="{E440911E-1B8F-417D-8B47-FA5C5EA5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17A00"/>
                </a:solidFill>
              </a:defRPr>
            </a:pPr>
            <a:r>
              <a:rPr sz="1200" b="1">
                <a:solidFill>
                  <a:srgbClr val="D17A00"/>
                </a:solidFill>
              </a:rPr>
              <a:t>SAFETY</a:t>
            </a:r>
          </a:p>
        </p:txBody>
      </p:sp>
      <p:sp>
        <p:nvSpPr>
          <p:cNvPr id="7" name="doc-id-0">
            <a:extLst xmlns:a="http://schemas.openxmlformats.org/drawingml/2006/main">
              <a:ext uri="{FF2B5EF4-FFF2-40B4-BE49-F238E27FC236}">
                <a16:creationId xmlns:a16="http://schemas.microsoft.com/office/drawing/2014/main" id="{D9B2A2FF-BC90-4C33-886C-4BFF06E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SAFE-PKG07-001</a:t>
            </a:r>
          </a:p>
        </p:txBody>
      </p:sp>
      <p:sp>
        <p:nvSpPr>
          <p:cNvPr id="8" name="doc-desc-0">
            <a:extLst xmlns:a="http://schemas.openxmlformats.org/drawingml/2006/main">
              <a:ext uri="{FF2B5EF4-FFF2-40B4-BE49-F238E27FC236}">
                <a16:creationId xmlns:a16="http://schemas.microsoft.com/office/drawing/2014/main" id="{4944A1DA-26EC-4941-97E8-DEBBBECB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Guarding, LOTO, jams, emergency response</a:t>
            </a:r>
          </a:p>
        </p:txBody>
      </p:sp>
      <p:sp>
        <p:nvSpPr>
          <p:cNvPr id="9" name="doc-rule-1">
            <a:extLst xmlns:a="http://schemas.openxmlformats.org/drawingml/2006/main">
              <a:ext uri="{FF2B5EF4-FFF2-40B4-BE49-F238E27FC236}">
                <a16:creationId xmlns:a16="http://schemas.microsoft.com/office/drawing/2014/main" id="{A066BC45-8DD3-4C02-8C08-ED6F7683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c-type-1">
            <a:extLst xmlns:a="http://schemas.openxmlformats.org/drawingml/2006/main">
              <a:ext uri="{FF2B5EF4-FFF2-40B4-BE49-F238E27FC236}">
                <a16:creationId xmlns:a16="http://schemas.microsoft.com/office/drawing/2014/main" id="{F3EF0A32-D2DB-49FD-882A-6DA33AA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672FF"/>
                </a:solidFill>
              </a:defRPr>
            </a:pPr>
            <a:r>
              <a:rPr sz="1200" b="1">
                <a:solidFill>
                  <a:srgbClr val="2672FF"/>
                </a:solidFill>
              </a:rPr>
              <a:t>MAINTENANCE</a:t>
            </a:r>
          </a:p>
        </p:txBody>
      </p:sp>
      <p:sp>
        <p:nvSpPr>
          <p:cNvPr id="11" name="doc-id-1">
            <a:extLst xmlns:a="http://schemas.openxmlformats.org/drawingml/2006/main">
              <a:ext uri="{FF2B5EF4-FFF2-40B4-BE49-F238E27FC236}">
                <a16:creationId xmlns:a16="http://schemas.microsoft.com/office/drawing/2014/main" id="{96569206-FDBF-48D3-9549-7BE12C5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MAINT-PKG07-001</a:t>
            </a:r>
          </a:p>
        </p:txBody>
      </p:sp>
      <p:sp>
        <p:nvSpPr>
          <p:cNvPr id="12" name="doc-desc-1">
            <a:extLst xmlns:a="http://schemas.openxmlformats.org/drawingml/2006/main">
              <a:ext uri="{FF2B5EF4-FFF2-40B4-BE49-F238E27FC236}">
                <a16:creationId xmlns:a16="http://schemas.microsoft.com/office/drawing/2014/main" id="{E5AE3FB7-F3A6-4E8C-A5E1-655F4F7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Troubleshooting, inspection, controlled return to service</a:t>
            </a:r>
          </a:p>
        </p:txBody>
      </p:sp>
      <p:sp>
        <p:nvSpPr>
          <p:cNvPr id="13" name="doc-rule-2">
            <a:extLst xmlns:a="http://schemas.openxmlformats.org/drawingml/2006/main">
              <a:ext uri="{FF2B5EF4-FFF2-40B4-BE49-F238E27FC236}">
                <a16:creationId xmlns:a16="http://schemas.microsoft.com/office/drawing/2014/main" id="{2276815E-D8A8-4497-8830-241889B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3067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c-type-2">
            <a:extLst xmlns:a="http://schemas.openxmlformats.org/drawingml/2006/main">
              <a:ext uri="{FF2B5EF4-FFF2-40B4-BE49-F238E27FC236}">
                <a16:creationId xmlns:a16="http://schemas.microsoft.com/office/drawing/2014/main" id="{87CC865C-52C5-4C0E-AB7D-FF9B355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60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A5B"/>
                </a:solidFill>
              </a:defRPr>
            </a:pPr>
            <a:r>
              <a:rPr sz="1200" b="1">
                <a:solidFill>
                  <a:srgbClr val="168A5B"/>
                </a:solidFill>
              </a:rPr>
              <a:t>QUALITY</a:t>
            </a:r>
          </a:p>
        </p:txBody>
      </p:sp>
      <p:sp>
        <p:nvSpPr>
          <p:cNvPr id="15" name="doc-id-2">
            <a:extLst xmlns:a="http://schemas.openxmlformats.org/drawingml/2006/main">
              <a:ext uri="{FF2B5EF4-FFF2-40B4-BE49-F238E27FC236}">
                <a16:creationId xmlns:a16="http://schemas.microsoft.com/office/drawing/2014/main" id="{9DB63DF2-9D4A-4452-8822-96AF4B0A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3067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QC-PKG07-001</a:t>
            </a:r>
          </a:p>
        </p:txBody>
      </p:sp>
      <p:sp>
        <p:nvSpPr>
          <p:cNvPr id="16" name="doc-desc-2">
            <a:extLst xmlns:a="http://schemas.openxmlformats.org/drawingml/2006/main">
              <a:ext uri="{FF2B5EF4-FFF2-40B4-BE49-F238E27FC236}">
                <a16:creationId xmlns:a16="http://schemas.microsoft.com/office/drawing/2014/main" id="{1AA9BF9B-B644-414A-8400-CC9F6F66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3067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Checks, holds, traceability, product release</a:t>
            </a:r>
          </a:p>
        </p:txBody>
      </p:sp>
      <p:sp>
        <p:nvSpPr>
          <p:cNvPr id="17" name="context-bottom">
            <a:extLst xmlns:a="http://schemas.openxmlformats.org/drawingml/2006/main">
              <a:ext uri="{FF2B5EF4-FFF2-40B4-BE49-F238E27FC236}">
                <a16:creationId xmlns:a16="http://schemas.microsoft.com/office/drawing/2014/main" id="{45A8B5BB-68E5-4624-9FA9-D16125A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15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text-bottom-head">
            <a:extLst xmlns:a="http://schemas.openxmlformats.org/drawingml/2006/main">
              <a:ext uri="{FF2B5EF4-FFF2-40B4-BE49-F238E27FC236}">
                <a16:creationId xmlns:a16="http://schemas.microsoft.com/office/drawing/2014/main" id="{4ABEF1BB-F38D-4E5D-A7A0-811A0B17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Built for evidence, not volume</a:t>
            </a:r>
          </a:p>
        </p:txBody>
      </p:sp>
      <p:sp>
        <p:nvSpPr>
          <p:cNvPr id="19" name="context-bottom-copy">
            <a:extLst xmlns:a="http://schemas.openxmlformats.org/drawingml/2006/main">
              <a:ext uri="{FF2B5EF4-FFF2-40B4-BE49-F238E27FC236}">
                <a16:creationId xmlns:a16="http://schemas.microsoft.com/office/drawing/2014/main" id="{933CC5E8-F4CE-4222-AC43-7BF9D03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596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Fictional plant-specific content was organized into numbered sections, chunked for retrieval, and exposed as browsable citation links.</a:t>
            </a:r>
          </a:p>
        </p:txBody>
      </p:sp>
    </p:spTree>
    <p:extLst>
      <p:ext uri="{BB962C8B-B14F-4D97-AF65-F5344CB8AC3E}">
        <p14:creationId xmlns:p14="http://schemas.microsoft.com/office/powerpoint/2010/main" val="195373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5">
            <a:extLst xmlns:a="http://schemas.openxmlformats.org/drawingml/2006/main">
              <a:ext uri="{FF2B5EF4-FFF2-40B4-BE49-F238E27FC236}">
                <a16:creationId xmlns:a16="http://schemas.microsoft.com/office/drawing/2014/main" id="{420ADA45-A798-4800-ABEB-11AFEEB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OUTPUT EXPERIENCE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5AED2F-8268-4327-9DA6-D63BC22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Adaptive responses reduce cognitive burden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5765A345-4646-49FB-81EB-6B94FA0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AA8CECD-1E05-4012-9C1A-60ADA363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5" name="single-panel">
            <a:extLst xmlns:a="http://schemas.openxmlformats.org/drawingml/2006/main">
              <a:ext uri="{FF2B5EF4-FFF2-40B4-BE49-F238E27FC236}">
                <a16:creationId xmlns:a16="http://schemas.microsoft.com/office/drawing/2014/main" id="{2F77DC24-CB55-4418-9EF8-B2959EFB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ingle-kicker">
            <a:extLst xmlns:a="http://schemas.openxmlformats.org/drawingml/2006/main">
              <a:ext uri="{FF2B5EF4-FFF2-40B4-BE49-F238E27FC236}">
                <a16:creationId xmlns:a16="http://schemas.microsoft.com/office/drawing/2014/main" id="{DDBF1C9C-9DC0-45DF-B6F0-7FC565D4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672FF"/>
                </a:solidFill>
              </a:defRPr>
            </a:pPr>
            <a:r>
              <a:rPr sz="1125" b="1">
                <a:solidFill>
                  <a:srgbClr val="2672FF"/>
                </a:solidFill>
              </a:rPr>
              <a:t>DEFAULT</a:t>
            </a:r>
          </a:p>
        </p:txBody>
      </p:sp>
      <p:sp>
        <p:nvSpPr>
          <p:cNvPr id="7" name="single-head">
            <a:extLst xmlns:a="http://schemas.openxmlformats.org/drawingml/2006/main">
              <a:ext uri="{FF2B5EF4-FFF2-40B4-BE49-F238E27FC236}">
                <a16:creationId xmlns:a16="http://schemas.microsoft.com/office/drawing/2014/main" id="{E9D9C9EA-4207-4EDE-81BB-07E660B5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One decisive answer</a:t>
            </a:r>
          </a:p>
        </p:txBody>
      </p:sp>
      <p:sp>
        <p:nvSpPr>
          <p:cNvPr id="8" name="single-copy">
            <a:extLst xmlns:a="http://schemas.openxmlformats.org/drawingml/2006/main">
              <a:ext uri="{FF2B5EF4-FFF2-40B4-BE49-F238E27FC236}">
                <a16:creationId xmlns:a16="http://schemas.microsoft.com/office/drawing/2014/main" id="{C18A4F97-4C61-40B5-AEF9-9D6BCCDF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376237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Recommended actions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Safety warnings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Escalation criteria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Evidence-support score</a:t>
            </a:r>
          </a:p>
        </p:txBody>
      </p:sp>
      <p:sp>
        <p:nvSpPr>
          <p:cNvPr id="9" name="branch-line">
            <a:extLst xmlns:a="http://schemas.openxmlformats.org/drawingml/2006/main">
              <a:ext uri="{FF2B5EF4-FFF2-40B4-BE49-F238E27FC236}">
                <a16:creationId xmlns:a16="http://schemas.microsoft.com/office/drawing/2014/main" id="{3EAC2985-1C1D-424E-BCB4-714D283D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62150"/>
            <a:ext cx="19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ch-or">
            <a:extLst xmlns:a="http://schemas.openxmlformats.org/drawingml/2006/main">
              <a:ext uri="{FF2B5EF4-FFF2-40B4-BE49-F238E27FC236}">
                <a16:creationId xmlns:a16="http://schemas.microsoft.com/office/drawing/2014/main" id="{23481073-CE73-4BCB-97EC-54F67669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IF</a:t>
            </a:r>
          </a:p>
        </p:txBody>
      </p:sp>
      <p:sp>
        <p:nvSpPr>
          <p:cNvPr id="11" name="multiple-kicker">
            <a:extLst xmlns:a="http://schemas.openxmlformats.org/drawingml/2006/main">
              <a:ext uri="{FF2B5EF4-FFF2-40B4-BE49-F238E27FC236}">
                <a16:creationId xmlns:a16="http://schemas.microsoft.com/office/drawing/2014/main" id="{2DBE519D-4A5B-40A0-97F3-019EB9C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17A00"/>
                </a:solidFill>
              </a:defRPr>
            </a:pPr>
            <a:r>
              <a:rPr sz="1125" b="1">
                <a:solidFill>
                  <a:srgbClr val="D17A00"/>
                </a:solidFill>
              </a:rPr>
              <a:t>ONLY WHEN NEEDED</a:t>
            </a:r>
          </a:p>
        </p:txBody>
      </p:sp>
      <p:sp>
        <p:nvSpPr>
          <p:cNvPr id="12" name="multiple-head">
            <a:extLst xmlns:a="http://schemas.openxmlformats.org/drawingml/2006/main">
              <a:ext uri="{FF2B5EF4-FFF2-40B4-BE49-F238E27FC236}">
                <a16:creationId xmlns:a16="http://schemas.microsoft.com/office/drawing/2014/main" id="{56897DF3-426A-4D12-B89F-AA43297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Alternatives or escalation</a:t>
            </a:r>
          </a:p>
        </p:txBody>
      </p:sp>
      <p:sp>
        <p:nvSpPr>
          <p:cNvPr id="13" name="multiple-copy">
            <a:extLst xmlns:a="http://schemas.openxmlformats.org/drawingml/2006/main">
              <a:ext uri="{FF2B5EF4-FFF2-40B4-BE49-F238E27FC236}">
                <a16:creationId xmlns:a16="http://schemas.microsoft.com/office/drawing/2014/main" id="{71872044-3F75-4648-B9C6-4366B1CD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Show 2–3 interpretations for material ambiguity or conflicting guidance. Abstain when the requested fact is not supported.</a:t>
            </a:r>
          </a:p>
        </p:txBody>
      </p:sp>
      <p:sp>
        <p:nvSpPr>
          <p:cNvPr id="14" name="clickable">
            <a:extLst xmlns:a="http://schemas.openxmlformats.org/drawingml/2006/main">
              <a:ext uri="{FF2B5EF4-FFF2-40B4-BE49-F238E27FC236}">
                <a16:creationId xmlns:a16="http://schemas.microsoft.com/office/drawing/2014/main" id="{3C5FA72B-19DE-4EBA-9D86-A281F20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672FF"/>
                </a:solidFill>
              </a:defRPr>
            </a:pPr>
            <a:r>
              <a:rPr sz="1500" b="1">
                <a:solidFill>
                  <a:srgbClr val="2672FF"/>
                </a:solidFill>
              </a:rPr>
              <a:t>Every citation opens the exact supporting section.</a:t>
            </a:r>
          </a:p>
        </p:txBody>
      </p:sp>
    </p:spTree>
    <p:extLst>
      <p:ext uri="{BB962C8B-B14F-4D97-AF65-F5344CB8AC3E}">
        <p14:creationId xmlns:p14="http://schemas.microsoft.com/office/powerpoint/2010/main" val="137612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LIVE WORKFLOW · 1 OF 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interface makes agent progress visible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a1f2c6a3c4770"/>
          <a:srcRect xmlns:a="http://schemas.openxmlformats.org/drawingml/2006/main" l="0" t="18310" r="0" b="18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LIVE WORKFLOW · 2 OF 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 decisive answer combines action, safety, and escalation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07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3c896d255435a"/>
          <a:srcRect xmlns:a="http://schemas.openxmlformats.org/drawingml/2006/main" l="0" t="18310" r="0" b="18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LIVE WORKFLOW · 3 OF 3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Explainability and human feedback close the loop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050bddfe944d9"/>
          <a:srcRect xmlns:a="http://schemas.openxmlformats.org/drawingml/2006/main" l="0" t="18310" r="0" b="18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95450"/>
            <a:ext cx="108204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EVIDENCE &amp; NEXT STEP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Benchmarking validates the core and reveals the next control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09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58102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f316bf84f1452e"/>
          </a:graphicData>
        </a:graphic>
      </p:graphicFrame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678C0E7-B64D-4DD0-B3DA-82C031B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3/5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5126BE-EC52-4F4E-9EA7-8B3FD4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passes</a:t>
            </a:r>
          </a:p>
        </p:txBody>
      </p:sp>
      <p:sp>
        <p:nvSpPr>
          <p:cNvPr id="8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E6E7B92-BC3E-4A50-81EE-4F129CF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63FBED4-22DE-45BE-8093-148BF7E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72FF"/>
                </a:solidFill>
              </a:defRPr>
            </a:pPr>
            <a:r>
              <a:rPr sz="3600" b="1">
                <a:solidFill>
                  <a:srgbClr val="2672FF"/>
                </a:solidFill>
              </a:rPr>
              <a:t>86.6%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8080DEB3-DDF3-40E9-AF91-68740A5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average check score</a:t>
            </a:r>
          </a:p>
        </p:txBody>
      </p:sp>
      <p:sp>
        <p:nvSpPr>
          <p:cNvPr id="11" name="benchmark-rule">
            <a:extLst xmlns:a="http://schemas.openxmlformats.org/drawingml/2006/main">
              <a:ext uri="{FF2B5EF4-FFF2-40B4-BE49-F238E27FC236}">
                <a16:creationId xmlns:a16="http://schemas.microsoft.com/office/drawing/2014/main" id="{107B873C-C8EA-4B78-B16F-BA02B0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enchmark-learning-head">
            <a:extLst xmlns:a="http://schemas.openxmlformats.org/drawingml/2006/main">
              <a:ext uri="{FF2B5EF4-FFF2-40B4-BE49-F238E27FC236}">
                <a16:creationId xmlns:a16="http://schemas.microsoft.com/office/drawing/2014/main" id="{AC989640-3771-414E-ABED-7E697B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What we learned</a:t>
            </a:r>
          </a:p>
        </p:txBody>
      </p:sp>
      <p:sp>
        <p:nvSpPr>
          <p:cNvPr id="13" name="benchmark-learning">
            <a:extLst xmlns:a="http://schemas.openxmlformats.org/drawingml/2006/main">
              <a:ext uri="{FF2B5EF4-FFF2-40B4-BE49-F238E27FC236}">
                <a16:creationId xmlns:a16="http://schemas.microsoft.com/office/drawing/2014/main" id="{F53BCD4D-8811-4269-A21C-874F329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Restart guidance must preserve exact quantities.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“Supported abstention” is not the same as “answerable.”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Next: add an explicit answerability gate.</a:t>
            </a:r>
          </a:p>
        </p:txBody>
      </p:sp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No unsafe or invented instructions were detected across the five live cases.</a:t>
            </a:r>
          </a:p>
        </p:txBody>
      </p:sp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QUERY-LEVEL RESULTS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The benchmark pinpoints where governance must improve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10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9525" cy="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06e2f48dbe4b83"/>
          </a:graphicData>
        </a:graphic>
      </p:graphicFrame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Pass = all six checks: concepts, safety, routing, response mode, citation integrity, and support threshold.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"/>
                <a:gridCol w="4191000"/>
                <a:gridCol w="1638300"/>
                <a:gridCol w="800100"/>
                <a:gridCol w="914400"/>
                <a:gridCol w="1104900"/>
                <a:gridCol w="1524000"/>
              </a:tblGrid>
              <a:tr h="555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Operational question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Sources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95250" marR="76200" marT="57150" marB="57150" anchor="ctr">
                    <a:solidFill>
                      <a:srgbClr val="0B1F3A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B01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Overheating motor + guarded inspection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Safety + Maint.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100%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35.7 s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443"/>
                          </a:solidFill>
                        </a:rPr>
                        <a:t>PASS</a:t>
                      </a:r>
                    </a:p>
                  </a:txBody>
                  <a:tcPr marL="95250" marR="76200" marT="47625" marB="47625" anchor="ctr">
                    <a:solidFill>
                      <a:srgbClr val="ECFD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B02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Guarded jam + affected-product hold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Safety + Maint. + Quality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100%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69.7 s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443"/>
                          </a:solidFill>
                        </a:rPr>
                        <a:t>PASS</a:t>
                      </a:r>
                    </a:p>
                  </a:txBody>
                  <a:tcPr marL="95250" marR="76200" marT="47625" marB="47625" anchor="ctr">
                    <a:solidFill>
                      <a:srgbClr val="ECFD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B03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Release after heat-sealer adjustment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Maint. + Quality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83%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98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17.9 s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6700"/>
                          </a:solidFill>
                        </a:rPr>
                        <a:t>FAIL · quantity</a:t>
                      </a:r>
                    </a:p>
                  </a:txBody>
                  <a:tcPr marL="95250" marR="76200" marT="47625" marB="47625" anchor="ctr">
                    <a:solidFill>
                      <a:srgbClr val="FFF4E5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B04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Unreadable lot-code nonconformance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Maint. + Quality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100%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34.4 s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443"/>
                          </a:solidFill>
                        </a:rPr>
                        <a:t>PASS</a:t>
                      </a:r>
                    </a:p>
                  </a:txBody>
                  <a:tcPr marL="95250" marR="76200" marT="47625" marB="47625" anchor="ctr">
                    <a:solidFill>
                      <a:srgbClr val="ECFD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B05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Missing motor-bolt torque specification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Maintenance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50%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100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44054"/>
                          </a:solidFill>
                        </a:rPr>
                        <a:t>26.4 s</a:t>
                      </a:r>
                    </a:p>
                  </a:txBody>
                  <a:tcPr marL="95250" marR="76200" marT="47625" marB="47625"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6700"/>
                          </a:solidFill>
                        </a:rPr>
                        <a:t>FAIL · mode</a:t>
                      </a:r>
                    </a:p>
                  </a:txBody>
                  <a:tcPr marL="95250" marR="76200" marT="47625" marB="47625" anchor="ctr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6">
            <a:extLst xmlns:a="http://schemas.openxmlformats.org/drawingml/2006/main">
              <a:ext uri="{FF2B5EF4-FFF2-40B4-BE49-F238E27FC236}">
                <a16:creationId xmlns:a16="http://schemas.microsoft.com/office/drawing/2014/main" id="{774D2E84-C6DA-4D64-A67B-20E5AF6D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BENCHMARK DETAIL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1CCC3FA-B719-41F3-85DE-FF4DCFB2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Five live cases make strengths and gaps explicit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B26D1E2F-6490-4E1F-86D5-76EB5DC2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0CB533F-02F2-440E-9E9E-018AFA0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11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2057400"/>
          <a:ext xmlns:a="http://schemas.openxmlformats.org/drawingml/2006/main" cx="5810250" cy="2971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f94fb58f284ecd"/>
          </a:graphicData>
        </a:graphic>
      </p:graphicFrame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678C0E7-B64D-4DD0-B3DA-82C031B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5/5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15126BE-EC52-4F4E-9EA7-8B3FD4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safe responses</a:t>
            </a:r>
          </a:p>
        </p:txBody>
      </p:sp>
      <p:sp>
        <p:nvSpPr>
          <p:cNvPr id="8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E6E7B92-BC3E-4A50-81EE-4F129CF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2">
            <a:extLst xmlns:a="http://schemas.openxmlformats.org/drawingml/2006/main">
              <a:ext uri="{FF2B5EF4-FFF2-40B4-BE49-F238E27FC236}">
                <a16:creationId xmlns:a16="http://schemas.microsoft.com/office/drawing/2014/main" id="{063FBED4-22DE-45BE-8093-148BF7E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672FF"/>
                </a:solidFill>
              </a:defRPr>
            </a:pPr>
            <a:r>
              <a:rPr sz="3600" b="1">
                <a:solidFill>
                  <a:srgbClr val="2672FF"/>
                </a:solidFill>
              </a:rPr>
              <a:t>3/5</a:t>
            </a:r>
          </a:p>
        </p:txBody>
      </p:sp>
      <p:sp>
        <p:nvSpPr>
          <p:cNvPr id="10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8080DEB3-DDF3-40E9-AF91-68740A5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passes</a:t>
            </a:r>
          </a:p>
        </p:txBody>
      </p:sp>
      <p:sp>
        <p:nvSpPr>
          <p:cNvPr id="11" name="benchmark-rule">
            <a:extLst xmlns:a="http://schemas.openxmlformats.org/drawingml/2006/main">
              <a:ext uri="{FF2B5EF4-FFF2-40B4-BE49-F238E27FC236}">
                <a16:creationId xmlns:a16="http://schemas.microsoft.com/office/drawing/2014/main" id="{107B873C-C8EA-4B78-B16F-BA02B085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428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enchmark-learning-head">
            <a:extLst xmlns:a="http://schemas.openxmlformats.org/drawingml/2006/main">
              <a:ext uri="{FF2B5EF4-FFF2-40B4-BE49-F238E27FC236}">
                <a16:creationId xmlns:a16="http://schemas.microsoft.com/office/drawing/2014/main" id="{AC989640-3771-414E-ABED-7E697BC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Two actionable failures</a:t>
            </a:r>
          </a:p>
        </p:txBody>
      </p:sp>
      <p:sp>
        <p:nvSpPr>
          <p:cNvPr id="13" name="benchmark-learning">
            <a:extLst xmlns:a="http://schemas.openxmlformats.org/drawingml/2006/main">
              <a:ext uri="{FF2B5EF4-FFF2-40B4-BE49-F238E27FC236}">
                <a16:creationId xmlns:a16="http://schemas.microsoft.com/office/drawing/2014/main" id="{F53BCD4D-8811-4269-A21C-874F329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B03: correct direction, but omitted the exact five-package restart check.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B05: safely said torque was absent, but confidence semantics still marked the question answerable.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• Fix: preserve quantities and gate on requested-fact availability.</a:t>
            </a:r>
          </a:p>
        </p:txBody>
      </p:sp>
      <p:sp>
        <p:nvSpPr>
          <p:cNvPr id="14" name="benchmark-footer">
            <a:extLst xmlns:a="http://schemas.openxmlformats.org/drawingml/2006/main">
              <a:ext uri="{FF2B5EF4-FFF2-40B4-BE49-F238E27FC236}">
                <a16:creationId xmlns:a16="http://schemas.microsoft.com/office/drawing/2014/main" id="{4DC8B0A9-0E24-4539-9CF9-EC6E12B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985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8A5B"/>
                </a:solidFill>
              </a:defRPr>
            </a:pPr>
            <a:r>
              <a:rPr sz="1575" b="1">
                <a:solidFill>
                  <a:srgbClr val="168A5B"/>
                </a:solidFill>
              </a:rPr>
              <a:t>Average check score: 86.6% · Transparent six-check rubric · 184.7 seconds across five live calls</a:t>
            </a:r>
          </a:p>
        </p:txBody>
      </p:sp>
    </p:spTree>
    <p:extLst>
      <p:ext uri="{BB962C8B-B14F-4D97-AF65-F5344CB8AC3E}">
        <p14:creationId xmlns:p14="http://schemas.microsoft.com/office/powerpoint/2010/main" val="1293099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2">
            <a:extLst xmlns:a="http://schemas.openxmlformats.org/drawingml/2006/main">
              <a:ext uri="{FF2B5EF4-FFF2-40B4-BE49-F238E27FC236}">
                <a16:creationId xmlns:a16="http://schemas.microsoft.com/office/drawing/2014/main" id="{FE3081EB-8114-4235-BC4F-49D6110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72FF"/>
                </a:solidFill>
              </a:defRPr>
            </a:pPr>
            <a:r>
              <a:rPr sz="1050" b="1">
                <a:solidFill>
                  <a:srgbClr val="2672FF"/>
                </a:solidFill>
              </a:rPr>
              <a:t>RECOMMENDATION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66C3F2A-D981-4573-BCB5-0302BF4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Move from prototype to a controlled line-level pilot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4C14130D-75B4-41E0-A577-A33BA74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729F29AB-30CA-403D-98E0-088DE877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0080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12</a:t>
            </a:r>
          </a:p>
        </p:txBody>
      </p:sp>
      <p:sp>
        <p:nvSpPr>
          <p:cNvPr id="5" name="problem-head">
            <a:extLst xmlns:a="http://schemas.openxmlformats.org/drawingml/2006/main">
              <a:ext uri="{FF2B5EF4-FFF2-40B4-BE49-F238E27FC236}">
                <a16:creationId xmlns:a16="http://schemas.microsoft.com/office/drawing/2014/main" id="{94668640-FF05-4967-ABE9-9E82848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Prototype proved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A256E2C0-ED6C-45EA-890F-3E5E8B2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7085"/>
                </a:solidFill>
              </a:defRPr>
            </a:pPr>
            <a:r>
              <a:rPr sz="1650" b="0">
                <a:solidFill>
                  <a:srgbClr val="667085"/>
                </a:solidFill>
              </a:rPr>
              <a:t>Cross-source routing, cited retrieval, adaptive answers, explicit support scoring, browsable evidence, live deployment, and a repeatable benchmark.</a:t>
            </a:r>
          </a:p>
        </p:txBody>
      </p:sp>
      <p:sp>
        <p:nvSpPr>
          <p:cNvPr id="7" name="mid-arrow-line">
            <a:extLst xmlns:a="http://schemas.openxmlformats.org/drawingml/2006/main">
              <a:ext uri="{FF2B5EF4-FFF2-40B4-BE49-F238E27FC236}">
                <a16:creationId xmlns:a16="http://schemas.microsoft.com/office/drawing/2014/main" id="{FEFC8709-BE05-44D5-BD02-C972BAC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43200"/>
            <a:ext cx="109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d-arrow">
            <a:extLst xmlns:a="http://schemas.openxmlformats.org/drawingml/2006/main">
              <a:ext uri="{FF2B5EF4-FFF2-40B4-BE49-F238E27FC236}">
                <a16:creationId xmlns:a16="http://schemas.microsoft.com/office/drawing/2014/main" id="{53E33F00-8E6A-4B63-898C-235248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390775"/>
            <a:ext cx="52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2672FF"/>
                </a:solidFill>
              </a:defRPr>
            </a:pPr>
            <a:r>
              <a:rPr sz="3150" b="1">
                <a:solidFill>
                  <a:srgbClr val="2672FF"/>
                </a:solidFill>
              </a:rPr>
              <a:t>→</a:t>
            </a:r>
          </a:p>
        </p:txBody>
      </p:sp>
      <p:sp>
        <p:nvSpPr>
          <p:cNvPr id="9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913F41E3-8BA0-470B-8C75-315D89FA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33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C416B76D-8FE1-4EE4-9DFE-3B4F15E2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52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672FF"/>
                </a:solidFill>
              </a:defRPr>
            </a:pPr>
            <a:r>
              <a:rPr sz="1875" b="1">
                <a:solidFill>
                  <a:srgbClr val="2672FF"/>
                </a:solidFill>
              </a:rPr>
              <a:t>Production hardening</a:t>
            </a:r>
          </a:p>
        </p:txBody>
      </p:sp>
      <p:sp>
        <p:nvSpPr>
          <p:cNvPr id="11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16A60A7-FDCC-4297-90CF-DB68967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1828"/>
                </a:solidFill>
              </a:defRPr>
            </a:pPr>
            <a:r>
              <a:rPr sz="2325" b="1">
                <a:solidFill>
                  <a:srgbClr val="101828"/>
                </a:solidFill>
              </a:rPr>
              <a:t>Three focused controls</a:t>
            </a:r>
          </a:p>
        </p:txBody>
      </p:sp>
      <p:sp>
        <p:nvSpPr>
          <p:cNvPr id="12" name="outcome-copy">
            <a:extLst xmlns:a="http://schemas.openxmlformats.org/drawingml/2006/main">
              <a:ext uri="{FF2B5EF4-FFF2-40B4-BE49-F238E27FC236}">
                <a16:creationId xmlns:a16="http://schemas.microsoft.com/office/drawing/2014/main" id="{2D6F7F07-86C4-4864-A980-00130464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905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1. Add a requested-fact answerability gate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2. Run semantic + deterministic evals in CI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7085"/>
                </a:solidFill>
              </a:defRPr>
            </a:pPr>
            <a:r>
              <a:rPr sz="1575" b="0">
                <a:solidFill>
                  <a:srgbClr val="667085"/>
                </a:solidFill>
              </a:rPr>
              <a:t>3. Add real ingestion, identity, permissions, and audit logs</a:t>
            </a:r>
          </a:p>
        </p:txBody>
      </p:sp>
      <p:sp>
        <p:nvSpPr>
          <p:cNvPr id="13" name="guardrail">
            <a:extLst xmlns:a="http://schemas.openxmlformats.org/drawingml/2006/main">
              <a:ext uri="{FF2B5EF4-FFF2-40B4-BE49-F238E27FC236}">
                <a16:creationId xmlns:a16="http://schemas.microsoft.com/office/drawing/2014/main" id="{20CC574E-D6ED-4D70-97FF-797C6468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8A5B"/>
                </a:solidFill>
              </a:defRPr>
            </a:pPr>
            <a:r>
              <a:rPr sz="1725" b="1">
                <a:solidFill>
                  <a:srgbClr val="168A5B"/>
                </a:solidFill>
              </a:rPr>
              <a:t>Pilot one line with one accountable owner; measure response usefulness, safe escalation, and time-to-decision.</a:t>
            </a:r>
          </a:p>
        </p:txBody>
      </p:sp>
    </p:spTree>
    <p:extLst>
      <p:ext uri="{BB962C8B-B14F-4D97-AF65-F5344CB8AC3E}">
        <p14:creationId xmlns:p14="http://schemas.microsoft.com/office/powerpoint/2010/main" val="1457391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2026-09-01T23:12:30.3850000Z</dcterms:created>
  <dcterms:modified xsi:type="dcterms:W3CDTF">2026-09-01T23:12:30.3850000Z</dcterms:modified>
</coreProperties>
</file>