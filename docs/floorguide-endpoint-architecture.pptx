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489fcc16fc04302" /><Relationship Type="http://schemas.openxmlformats.org/officeDocument/2006/relationships/extended-properties" Target="/docProps/app.xml" Id="R42a56abfc72d423a" /><Relationship Type="http://schemas.openxmlformats.org/officeDocument/2006/relationships/officeDocument" Target="/ppt/presentation.xml" Id="R8de5692acdf34a6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023ee34d4ee4f10"/>
  </p:sldMasterIdLst>
  <p:notesMasterIdLst>
    <p:notesMasterId xmlns:r="http://schemas.openxmlformats.org/officeDocument/2006/relationships" r:id="Reddf867675b349f0"/>
  </p:notesMasterIdLst>
  <p:sldIdLst>
    <p:sldId xmlns:r="http://schemas.openxmlformats.org/officeDocument/2006/relationships" id="256" r:id="R9254bf74d5274a0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c4a12812a4b4874" /><Relationship Type="http://schemas.openxmlformats.org/officeDocument/2006/relationships/slideMaster" Target="/ppt/slideMasters/slideMaster1.xml" Id="R6023ee34d4ee4f10" /><Relationship Type="http://schemas.openxmlformats.org/officeDocument/2006/relationships/notesMaster" Target="/ppt/notesMasters/notesMaster1.xml" Id="Reddf867675b349f0" /><Relationship Type="http://schemas.openxmlformats.org/officeDocument/2006/relationships/presProps" Target="/ppt/presProps.xml" Id="R08d4ca8fb018466f" /><Relationship Type="http://schemas.openxmlformats.org/officeDocument/2006/relationships/tableStyles" Target="/ppt/tableStyles.xml" Id="R05d5085ecfc0444b" /><Relationship Type="http://schemas.openxmlformats.org/officeDocument/2006/relationships/slide" Target="/ppt/slides/slide1.xml" Id="R9254bf74d5274a0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23114f32de1452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ed22ded07c44353" /><Relationship Type="http://schemas.openxmlformats.org/officeDocument/2006/relationships/notesMaster" Target="/ppt/notesMasters/notesMaster1.xml" Id="Rf18a7728bc8b40d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fe9f71bcbf46f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51133a3eec3491b" /><Relationship Type="http://schemas.openxmlformats.org/officeDocument/2006/relationships/slideLayout" Target="/ppt/slideLayouts/slideLayout1.xml" Id="Rab0c4851504348d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b0c4851504348d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eeb0fef3cc479f" /><Relationship Type="http://schemas.openxmlformats.org/officeDocument/2006/relationships/notesSlide" Target="/ppt/notesSlides/notesSlide1.xml" Id="R360d1b8c32bb45f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49" name="input-to-router"/>
          <p:cNvCxnSpPr/>
          <p:nvPr/>
        </p:nvCxnSpPr>
        <p:spPr>
          <a:xfrm xmlns:a="http://schemas.openxmlformats.org/drawingml/2006/main">
            <a:off x="2247900" y="3143250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5707F"/>
            </a:solidFill>
            <a:prstDash val="solid"/>
          </a:ln>
        </p:spPr>
      </p:cxnSp>
      <p:cxnSp>
        <p:nvCxnSpPr>
          <p:cNvPr id="50" name="router-bus-in"/>
          <p:cNvCxnSpPr/>
          <p:nvPr/>
        </p:nvCxnSpPr>
        <p:spPr>
          <a:xfrm xmlns:a="http://schemas.openxmlformats.org/drawingml/2006/main">
            <a:off x="4362450" y="31432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5707F"/>
            </a:solidFill>
            <a:prstDash val="solid"/>
          </a:ln>
        </p:spPr>
      </p:cxnSp>
      <p:cxnSp>
        <p:nvCxnSpPr>
          <p:cNvPr id="51" name="router-bus"/>
          <p:cNvCxnSpPr/>
          <p:nvPr/>
        </p:nvCxnSpPr>
        <p:spPr>
          <a:xfrm xmlns:a="http://schemas.openxmlformats.org/drawingml/2006/main">
            <a:off x="4610100" y="2324100"/>
            <a:ext cx="0" cy="1638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5707F"/>
            </a:solidFill>
            <a:prstDash val="solid"/>
          </a:ln>
        </p:spPr>
      </p:cxnSp>
      <p:cxnSp>
        <p:nvCxnSpPr>
          <p:cNvPr id="52" name="router-to-safety"/>
          <p:cNvCxnSpPr/>
          <p:nvPr/>
        </p:nvCxnSpPr>
        <p:spPr>
          <a:xfrm xmlns:a="http://schemas.openxmlformats.org/drawingml/2006/main">
            <a:off x="4610100" y="23241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5707F"/>
            </a:solidFill>
            <a:prstDash val="solid"/>
          </a:ln>
        </p:spPr>
      </p:cxnSp>
      <p:cxnSp>
        <p:nvCxnSpPr>
          <p:cNvPr id="53" name="router-to-maintenance"/>
          <p:cNvCxnSpPr/>
          <p:nvPr/>
        </p:nvCxnSpPr>
        <p:spPr>
          <a:xfrm xmlns:a="http://schemas.openxmlformats.org/drawingml/2006/main">
            <a:off x="4610100" y="31432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5707F"/>
            </a:solidFill>
            <a:prstDash val="solid"/>
          </a:ln>
        </p:spPr>
      </p:cxnSp>
      <p:cxnSp>
        <p:nvCxnSpPr>
          <p:cNvPr id="54" name="router-to-quality"/>
          <p:cNvCxnSpPr/>
          <p:nvPr/>
        </p:nvCxnSpPr>
        <p:spPr>
          <a:xfrm xmlns:a="http://schemas.openxmlformats.org/drawingml/2006/main">
            <a:off x="4610100" y="39624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5707F"/>
            </a:solidFill>
            <a:prstDash val="solid"/>
          </a:ln>
        </p:spPr>
      </p:cxnSp>
      <p:cxnSp>
        <p:nvCxnSpPr>
          <p:cNvPr id="55" name="safety-to-merge"/>
          <p:cNvCxnSpPr/>
          <p:nvPr/>
        </p:nvCxnSpPr>
        <p:spPr>
          <a:xfrm xmlns:a="http://schemas.openxmlformats.org/drawingml/2006/main">
            <a:off x="6724650" y="232410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5707F"/>
            </a:solidFill>
            <a:prstDash val="solid"/>
          </a:ln>
        </p:spPr>
      </p:cxnSp>
      <p:cxnSp>
        <p:nvCxnSpPr>
          <p:cNvPr id="56" name="maintenance-to-merge"/>
          <p:cNvCxnSpPr/>
          <p:nvPr/>
        </p:nvCxnSpPr>
        <p:spPr>
          <a:xfrm xmlns:a="http://schemas.openxmlformats.org/drawingml/2006/main">
            <a:off x="6724650" y="314325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5707F"/>
            </a:solidFill>
            <a:prstDash val="solid"/>
          </a:ln>
        </p:spPr>
      </p:cxnSp>
      <p:cxnSp>
        <p:nvCxnSpPr>
          <p:cNvPr id="57" name="quality-to-merge"/>
          <p:cNvCxnSpPr/>
          <p:nvPr/>
        </p:nvCxnSpPr>
        <p:spPr>
          <a:xfrm xmlns:a="http://schemas.openxmlformats.org/drawingml/2006/main">
            <a:off x="6724650" y="396240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5707F"/>
            </a:solidFill>
            <a:prstDash val="solid"/>
          </a:ln>
        </p:spPr>
      </p:cxnSp>
      <p:cxnSp>
        <p:nvCxnSpPr>
          <p:cNvPr id="58" name="retrieval-merge-bus"/>
          <p:cNvCxnSpPr/>
          <p:nvPr/>
        </p:nvCxnSpPr>
        <p:spPr>
          <a:xfrm xmlns:a="http://schemas.openxmlformats.org/drawingml/2006/main">
            <a:off x="6991350" y="2324100"/>
            <a:ext cx="0" cy="1638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5707F"/>
            </a:solidFill>
            <a:prstDash val="solid"/>
          </a:ln>
        </p:spPr>
      </p:cxnSp>
      <p:cxnSp>
        <p:nvCxnSpPr>
          <p:cNvPr id="59" name="merge-to-synthesis"/>
          <p:cNvCxnSpPr/>
          <p:nvPr/>
        </p:nvCxnSpPr>
        <p:spPr>
          <a:xfrm xmlns:a="http://schemas.openxmlformats.org/drawingml/2006/main">
            <a:off x="6991350" y="31432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5707F"/>
            </a:solidFill>
            <a:prstDash val="solid"/>
          </a:ln>
        </p:spPr>
      </p:cxnSp>
      <p:cxnSp>
        <p:nvCxnSpPr>
          <p:cNvPr id="60" name="synthesis-to-verifier"/>
          <p:cNvCxnSpPr/>
          <p:nvPr/>
        </p:nvCxnSpPr>
        <p:spPr>
          <a:xfrm xmlns:a="http://schemas.openxmlformats.org/drawingml/2006/main">
            <a:off x="8915400" y="3143250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5707F"/>
            </a:solidFill>
            <a:prstDash val="solid"/>
          </a:ln>
        </p:spPr>
      </p:cxnSp>
      <p:cxnSp>
        <p:nvCxnSpPr>
          <p:cNvPr id="61" name="verifier-to-output"/>
          <p:cNvCxnSpPr/>
          <p:nvPr/>
        </p:nvCxnSpPr>
        <p:spPr>
          <a:xfrm xmlns:a="http://schemas.openxmlformats.org/drawingml/2006/main">
            <a:off x="10210800" y="3905250"/>
            <a:ext cx="0" cy="1047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sp>
        <p:nvSpPr>
          <p:cNvPr id="14" name="title">
            <a:extLst xmlns:a="http://schemas.openxmlformats.org/drawingml/2006/main">
              <a:ext uri="{FF2B5EF4-FFF2-40B4-BE49-F238E27FC236}">
                <a16:creationId xmlns:a16="http://schemas.microsoft.com/office/drawing/2014/main" id="{111E03CA-A829-4ACB-8C99-076FC246A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1116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71A33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71A33"/>
                </a:solidFill>
                <a:latin typeface="Arial"/>
                <a:ea typeface="Arial"/>
                <a:cs typeface="Arial"/>
              </a:rPr>
              <a:t>One endpoint turns plant questions into verified answers</a:t>
            </a:r>
          </a:p>
        </p:txBody>
      </p:sp>
      <p:sp>
        <p:nvSpPr>
          <p:cNvPr id="15" name="subtitle">
            <a:extLst xmlns:a="http://schemas.openxmlformats.org/drawingml/2006/main">
              <a:ext uri="{FF2B5EF4-FFF2-40B4-BE49-F238E27FC236}">
                <a16:creationId xmlns:a16="http://schemas.microsoft.com/office/drawing/2014/main" id="{3B3D4D35-2CD6-408B-A54A-5DC012490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96579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96579"/>
                </a:solidFill>
                <a:latin typeface="Arial"/>
                <a:ea typeface="Arial"/>
                <a:cs typeface="Arial"/>
              </a:rPr>
              <a:t>POST /api/v1/ask  •  deterministic workflow around Gemini  •  no open-ended autonomous loop</a:t>
            </a:r>
          </a:p>
        </p:txBody>
      </p:sp>
      <p:sp>
        <p:nvSpPr>
          <p:cNvPr id="16" name="accent-rule">
            <a:extLst xmlns:a="http://schemas.openxmlformats.org/drawingml/2006/main">
              <a:ext uri="{FF2B5EF4-FFF2-40B4-BE49-F238E27FC236}">
                <a16:creationId xmlns:a16="http://schemas.microsoft.com/office/drawing/2014/main" id="{D33A9DAF-8CF6-44EC-A470-18F30D7A8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11125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7" name="stage-label-1">
            <a:extLst xmlns:a="http://schemas.openxmlformats.org/drawingml/2006/main">
              <a:ext uri="{FF2B5EF4-FFF2-40B4-BE49-F238E27FC236}">
                <a16:creationId xmlns:a16="http://schemas.microsoft.com/office/drawing/2014/main" id="{E69DA13D-9642-4254-B93A-74D3439C6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145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9657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96579"/>
                </a:solidFill>
                <a:latin typeface="Arial"/>
                <a:ea typeface="Arial"/>
                <a:cs typeface="Arial"/>
              </a:rPr>
              <a:t>1  INTAKE</a:t>
            </a:r>
          </a:p>
        </p:txBody>
      </p:sp>
      <p:sp>
        <p:nvSpPr>
          <p:cNvPr id="18" name="stage-label-2">
            <a:extLst xmlns:a="http://schemas.openxmlformats.org/drawingml/2006/main">
              <a:ext uri="{FF2B5EF4-FFF2-40B4-BE49-F238E27FC236}">
                <a16:creationId xmlns:a16="http://schemas.microsoft.com/office/drawing/2014/main" id="{4227EF52-A232-4574-AED3-593733D8C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7145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9657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96579"/>
                </a:solidFill>
                <a:latin typeface="Arial"/>
                <a:ea typeface="Arial"/>
                <a:cs typeface="Arial"/>
              </a:rPr>
              <a:t>2  PLAN</a:t>
            </a:r>
          </a:p>
        </p:txBody>
      </p:sp>
      <p:sp>
        <p:nvSpPr>
          <p:cNvPr id="19" name="stage-label-3">
            <a:extLst xmlns:a="http://schemas.openxmlformats.org/drawingml/2006/main">
              <a:ext uri="{FF2B5EF4-FFF2-40B4-BE49-F238E27FC236}">
                <a16:creationId xmlns:a16="http://schemas.microsoft.com/office/drawing/2014/main" id="{5ED9CE57-716E-4EBC-AEE3-7D429913E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145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9657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96579"/>
                </a:solidFill>
                <a:latin typeface="Arial"/>
                <a:ea typeface="Arial"/>
                <a:cs typeface="Arial"/>
              </a:rPr>
              <a:t>3  RETRIEVE</a:t>
            </a:r>
          </a:p>
        </p:txBody>
      </p:sp>
      <p:sp>
        <p:nvSpPr>
          <p:cNvPr id="20" name="stage-label-4">
            <a:extLst xmlns:a="http://schemas.openxmlformats.org/drawingml/2006/main">
              <a:ext uri="{FF2B5EF4-FFF2-40B4-BE49-F238E27FC236}">
                <a16:creationId xmlns:a16="http://schemas.microsoft.com/office/drawing/2014/main" id="{66F90863-42AB-4CE6-9539-DE7DF8BF5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17145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9657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96579"/>
                </a:solidFill>
                <a:latin typeface="Arial"/>
                <a:ea typeface="Arial"/>
                <a:cs typeface="Arial"/>
              </a:rPr>
              <a:t>4  SYNTHESIZE</a:t>
            </a:r>
          </a:p>
        </p:txBody>
      </p:sp>
      <p:sp>
        <p:nvSpPr>
          <p:cNvPr id="21" name="stage-label-5">
            <a:extLst xmlns:a="http://schemas.openxmlformats.org/drawingml/2006/main">
              <a:ext uri="{FF2B5EF4-FFF2-40B4-BE49-F238E27FC236}">
                <a16:creationId xmlns:a16="http://schemas.microsoft.com/office/drawing/2014/main" id="{FD338BD5-DC5D-4DE0-9DAC-F98FED42B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17145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9657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96579"/>
                </a:solidFill>
                <a:latin typeface="Arial"/>
                <a:ea typeface="Arial"/>
                <a:cs typeface="Arial"/>
              </a:rPr>
              <a:t>5  VERIFY</a:t>
            </a:r>
          </a:p>
        </p:txBody>
      </p:sp>
      <p:sp>
        <p:nvSpPr>
          <p:cNvPr id="22" name="intake-node">
            <a:extLst xmlns:a="http://schemas.openxmlformats.org/drawingml/2006/main">
              <a:ext uri="{FF2B5EF4-FFF2-40B4-BE49-F238E27FC236}">
                <a16:creationId xmlns:a16="http://schemas.microsoft.com/office/drawing/2014/main" id="{307B3ECD-7DE0-4762-BEF0-B0869B79D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69545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E8F4FF"/>
          </a:solidFill>
          <a:ln xmlns:a="http://schemas.openxmlformats.org/drawingml/2006/main" w="13335">
            <a:solidFill>
              <a:srgbClr val="3D8DFF"/>
            </a:solidFill>
            <a:prstDash val="solid"/>
          </a:ln>
        </p:spPr>
      </p:sp>
      <p:sp>
        <p:nvSpPr>
          <p:cNvPr id="23" name="intake-title">
            <a:extLst xmlns:a="http://schemas.openxmlformats.org/drawingml/2006/main">
              <a:ext uri="{FF2B5EF4-FFF2-40B4-BE49-F238E27FC236}">
                <a16:creationId xmlns:a16="http://schemas.microsoft.com/office/drawing/2014/main" id="{1DFEB50B-13BA-4920-B7AF-CDFEB4A10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47950"/>
            <a:ext cx="1352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0833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71A3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71A33"/>
                </a:solidFill>
                <a:latin typeface="Arial"/>
                <a:ea typeface="Arial"/>
                <a:cs typeface="Arial"/>
              </a:rPr>
              <a:t>Question API</a:t>
            </a:r>
          </a:p>
        </p:txBody>
      </p:sp>
      <p:sp>
        <p:nvSpPr>
          <p:cNvPr id="24" name="intake-body">
            <a:extLst xmlns:a="http://schemas.openxmlformats.org/drawingml/2006/main">
              <a:ext uri="{FF2B5EF4-FFF2-40B4-BE49-F238E27FC236}">
                <a16:creationId xmlns:a16="http://schemas.microsoft.com/office/drawing/2014/main" id="{26F2EEF4-1B86-480D-96CD-F830D2F5A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90850"/>
            <a:ext cx="1352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437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Validate name + question</a:t>
            </a:r>
          </a:p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Create request ID</a:t>
            </a:r>
          </a:p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Return traceable status</a:t>
            </a:r>
          </a:p>
        </p:txBody>
      </p:sp>
      <p:sp>
        <p:nvSpPr>
          <p:cNvPr id="25" name="router-node">
            <a:extLst xmlns:a="http://schemas.openxmlformats.org/drawingml/2006/main">
              <a:ext uri="{FF2B5EF4-FFF2-40B4-BE49-F238E27FC236}">
                <a16:creationId xmlns:a16="http://schemas.microsoft.com/office/drawing/2014/main" id="{06CA326D-96D5-44BC-83CD-7FAB8723E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400300"/>
            <a:ext cx="1657350" cy="14859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13335">
            <a:solidFill>
              <a:srgbClr val="B8BCC4"/>
            </a:solidFill>
            <a:prstDash val="solid"/>
          </a:ln>
        </p:spPr>
      </p:sp>
      <p:sp>
        <p:nvSpPr>
          <p:cNvPr id="26" name="router-title">
            <a:extLst xmlns:a="http://schemas.openxmlformats.org/drawingml/2006/main">
              <a:ext uri="{FF2B5EF4-FFF2-40B4-BE49-F238E27FC236}">
                <a16:creationId xmlns:a16="http://schemas.microsoft.com/office/drawing/2014/main" id="{2835BAE8-4169-4D8F-A8AF-5AC13EDFF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533650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0833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71A3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71A33"/>
                </a:solidFill>
                <a:latin typeface="Arial"/>
                <a:ea typeface="Arial"/>
                <a:cs typeface="Arial"/>
              </a:rPr>
              <a:t>Intent router</a:t>
            </a:r>
          </a:p>
        </p:txBody>
      </p:sp>
      <p:sp>
        <p:nvSpPr>
          <p:cNvPr id="27" name="router-body">
            <a:extLst xmlns:a="http://schemas.openxmlformats.org/drawingml/2006/main">
              <a:ext uri="{FF2B5EF4-FFF2-40B4-BE49-F238E27FC236}">
                <a16:creationId xmlns:a16="http://schemas.microsoft.com/office/drawing/2014/main" id="{F8B16A3A-4445-4E46-BF5A-BD7772BE3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914650"/>
            <a:ext cx="13144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7009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Structured JSON</a:t>
            </a:r>
          </a:p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Select 1–3 tools</a:t>
            </a:r>
          </a:p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Rewrite subqueries</a:t>
            </a:r>
          </a:p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Flag ambiguity</a:t>
            </a:r>
          </a:p>
        </p:txBody>
      </p:sp>
      <p:sp>
        <p:nvSpPr>
          <p:cNvPr id="28" name="safety-source">
            <a:extLst xmlns:a="http://schemas.openxmlformats.org/drawingml/2006/main">
              <a:ext uri="{FF2B5EF4-FFF2-40B4-BE49-F238E27FC236}">
                <a16:creationId xmlns:a16="http://schemas.microsoft.com/office/drawing/2014/main" id="{8C279700-FFA2-41CE-9824-548A137AC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038350"/>
            <a:ext cx="18669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2D6"/>
          </a:solidFill>
          <a:ln xmlns:a="http://schemas.openxmlformats.org/drawingml/2006/main" w="13335">
            <a:solidFill>
              <a:srgbClr val="E3A008"/>
            </a:solidFill>
            <a:prstDash val="solid"/>
          </a:ln>
        </p:spPr>
      </p:sp>
      <p:sp>
        <p:nvSpPr>
          <p:cNvPr id="29" name="safety-text">
            <a:extLst xmlns:a="http://schemas.openxmlformats.org/drawingml/2006/main">
              <a:ext uri="{FF2B5EF4-FFF2-40B4-BE49-F238E27FC236}">
                <a16:creationId xmlns:a16="http://schemas.microsoft.com/office/drawing/2014/main" id="{A2B9052A-482B-4736-8FD9-2A89DC359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152650"/>
            <a:ext cx="1562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3092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6B45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B4500"/>
                </a:solidFill>
                <a:latin typeface="Arial"/>
                <a:ea typeface="Arial"/>
                <a:cs typeface="Arial"/>
              </a:rPr>
              <a:t>Safety procedures</a:t>
            </a:r>
          </a:p>
        </p:txBody>
      </p:sp>
      <p:sp>
        <p:nvSpPr>
          <p:cNvPr id="30" name="maintenance-source">
            <a:extLst xmlns:a="http://schemas.openxmlformats.org/drawingml/2006/main">
              <a:ext uri="{FF2B5EF4-FFF2-40B4-BE49-F238E27FC236}">
                <a16:creationId xmlns:a16="http://schemas.microsoft.com/office/drawing/2014/main" id="{6D508855-4BDC-4681-8EF4-99A74E289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857500"/>
            <a:ext cx="18669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8F4FF"/>
          </a:solidFill>
          <a:ln xmlns:a="http://schemas.openxmlformats.org/drawingml/2006/main" w="13335">
            <a:solidFill>
              <a:srgbClr val="3D8DFF"/>
            </a:solidFill>
            <a:prstDash val="solid"/>
          </a:ln>
        </p:spPr>
      </p:sp>
      <p:sp>
        <p:nvSpPr>
          <p:cNvPr id="31" name="maintenance-text">
            <a:extLst xmlns:a="http://schemas.openxmlformats.org/drawingml/2006/main">
              <a:ext uri="{FF2B5EF4-FFF2-40B4-BE49-F238E27FC236}">
                <a16:creationId xmlns:a16="http://schemas.microsoft.com/office/drawing/2014/main" id="{E785886D-1C90-46D7-845A-DA0393187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971800"/>
            <a:ext cx="1562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3512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23B6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23B67"/>
                </a:solidFill>
                <a:latin typeface="Arial"/>
                <a:ea typeface="Arial"/>
                <a:cs typeface="Arial"/>
              </a:rPr>
              <a:t>Maintenance manual</a:t>
            </a:r>
          </a:p>
        </p:txBody>
      </p:sp>
      <p:sp>
        <p:nvSpPr>
          <p:cNvPr id="32" name="quality-source">
            <a:extLst xmlns:a="http://schemas.openxmlformats.org/drawingml/2006/main">
              <a:ext uri="{FF2B5EF4-FFF2-40B4-BE49-F238E27FC236}">
                <a16:creationId xmlns:a16="http://schemas.microsoft.com/office/drawing/2014/main" id="{A97009F8-8D36-40B1-AD5E-BFC71CBA4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676650"/>
            <a:ext cx="18669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6F7F4"/>
          </a:solidFill>
          <a:ln xmlns:a="http://schemas.openxmlformats.org/drawingml/2006/main" w="13335">
            <a:solidFill>
              <a:srgbClr val="239B86"/>
            </a:solidFill>
            <a:prstDash val="solid"/>
          </a:ln>
        </p:spPr>
      </p:sp>
      <p:sp>
        <p:nvSpPr>
          <p:cNvPr id="33" name="quality-text">
            <a:extLst xmlns:a="http://schemas.openxmlformats.org/drawingml/2006/main">
              <a:ext uri="{FF2B5EF4-FFF2-40B4-BE49-F238E27FC236}">
                <a16:creationId xmlns:a16="http://schemas.microsoft.com/office/drawing/2014/main" id="{4D59E2A1-A45F-41F8-8292-1F9CEB8BE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790950"/>
            <a:ext cx="1562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442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35C5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5C50"/>
                </a:solidFill>
                <a:latin typeface="Arial"/>
                <a:ea typeface="Arial"/>
                <a:cs typeface="Arial"/>
              </a:rPr>
              <a:t>Quality standards</a:t>
            </a:r>
          </a:p>
        </p:txBody>
      </p:sp>
      <p:sp>
        <p:nvSpPr>
          <p:cNvPr id="34" name="retrieval-note">
            <a:extLst xmlns:a="http://schemas.openxmlformats.org/drawingml/2006/main">
              <a:ext uri="{FF2B5EF4-FFF2-40B4-BE49-F238E27FC236}">
                <a16:creationId xmlns:a16="http://schemas.microsoft.com/office/drawing/2014/main" id="{CB78DBE8-CDE1-4F1B-9F76-81EF5C725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362450"/>
            <a:ext cx="2133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04"/>
          </a:bodyPr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596579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96579"/>
                </a:solidFill>
                <a:latin typeface="Arial"/>
                <a:ea typeface="Arial"/>
                <a:cs typeface="Arial"/>
              </a:rPr>
              <a:t>Source-specific search • top evidence chunks • section metadata</a:t>
            </a:r>
          </a:p>
        </p:txBody>
      </p:sp>
      <p:sp>
        <p:nvSpPr>
          <p:cNvPr id="35" name="synthesis-node">
            <a:extLst xmlns:a="http://schemas.openxmlformats.org/drawingml/2006/main">
              <a:ext uri="{FF2B5EF4-FFF2-40B4-BE49-F238E27FC236}">
                <a16:creationId xmlns:a16="http://schemas.microsoft.com/office/drawing/2014/main" id="{C62ECF6C-D9F8-4232-A496-94E2C1CED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400300"/>
            <a:ext cx="1676400" cy="14859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13335">
            <a:solidFill>
              <a:srgbClr val="B8BCC4"/>
            </a:solidFill>
            <a:prstDash val="solid"/>
          </a:ln>
        </p:spPr>
      </p:sp>
      <p:sp>
        <p:nvSpPr>
          <p:cNvPr id="36" name="synthesis-title">
            <a:extLst xmlns:a="http://schemas.openxmlformats.org/drawingml/2006/main">
              <a:ext uri="{FF2B5EF4-FFF2-40B4-BE49-F238E27FC236}">
                <a16:creationId xmlns:a16="http://schemas.microsoft.com/office/drawing/2014/main" id="{8CA01C47-BD5D-46F2-B98A-B81B4CF17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5336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0833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71A3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71A33"/>
                </a:solidFill>
                <a:latin typeface="Arial"/>
                <a:ea typeface="Arial"/>
                <a:cs typeface="Arial"/>
              </a:rPr>
              <a:t>Answer agent</a:t>
            </a:r>
          </a:p>
        </p:txBody>
      </p:sp>
      <p:sp>
        <p:nvSpPr>
          <p:cNvPr id="37" name="synthesis-body">
            <a:extLst xmlns:a="http://schemas.openxmlformats.org/drawingml/2006/main">
              <a:ext uri="{FF2B5EF4-FFF2-40B4-BE49-F238E27FC236}">
                <a16:creationId xmlns:a16="http://schemas.microsoft.com/office/drawing/2014/main" id="{67A1FBA1-1C15-4F21-A403-CB1F3D946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914650"/>
            <a:ext cx="1333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583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Reason across sources</a:t>
            </a:r>
          </a:p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Prioritize safety</a:t>
            </a:r>
          </a:p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Attach citations</a:t>
            </a:r>
          </a:p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State missing facts</a:t>
            </a:r>
          </a:p>
        </p:txBody>
      </p:sp>
      <p:sp>
        <p:nvSpPr>
          <p:cNvPr id="38" name="verifier-node">
            <a:extLst xmlns:a="http://schemas.openxmlformats.org/drawingml/2006/main">
              <a:ext uri="{FF2B5EF4-FFF2-40B4-BE49-F238E27FC236}">
                <a16:creationId xmlns:a16="http://schemas.microsoft.com/office/drawing/2014/main" id="{69EFF769-ABB0-4065-9D8A-7AD5D9E80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266950"/>
            <a:ext cx="1676400" cy="17526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071A33"/>
          </a:solidFill>
          <a:ln xmlns:a="http://schemas.openxmlformats.org/drawingml/2006/main" w="13335">
            <a:solidFill>
              <a:srgbClr val="071A33"/>
            </a:solidFill>
            <a:prstDash val="solid"/>
          </a:ln>
        </p:spPr>
      </p:sp>
      <p:sp>
        <p:nvSpPr>
          <p:cNvPr id="39" name="verifier-title">
            <a:extLst xmlns:a="http://schemas.openxmlformats.org/drawingml/2006/main">
              <a:ext uri="{FF2B5EF4-FFF2-40B4-BE49-F238E27FC236}">
                <a16:creationId xmlns:a16="http://schemas.microsoft.com/office/drawing/2014/main" id="{306B70BF-C765-4C5A-B4A1-5ED24B362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419350"/>
            <a:ext cx="133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028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Evidence verifier</a:t>
            </a:r>
          </a:p>
        </p:txBody>
      </p:sp>
      <p:sp>
        <p:nvSpPr>
          <p:cNvPr id="40" name="verifier-body">
            <a:extLst xmlns:a="http://schemas.openxmlformats.org/drawingml/2006/main">
              <a:ext uri="{FF2B5EF4-FFF2-40B4-BE49-F238E27FC236}">
                <a16:creationId xmlns:a16="http://schemas.microsoft.com/office/drawing/2014/main" id="{E0989E93-70F2-49DC-A018-BCDB73A30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028950"/>
            <a:ext cx="1333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22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DCE8F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DCE8F5"/>
                </a:solidFill>
                <a:latin typeface="Arial"/>
                <a:ea typeface="Arial"/>
                <a:cs typeface="Arial"/>
              </a:rPr>
              <a:t>Check claim coverage</a:t>
            </a:r>
          </a:p>
          <a:p xmlns:a="http://schemas.openxmlformats.org/drawingml/2006/main">
            <a:pPr>
              <a:defRPr sz="1200">
                <a:solidFill>
                  <a:srgbClr val="DCE8F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DCE8F5"/>
                </a:solidFill>
                <a:latin typeface="Arial"/>
                <a:ea typeface="Arial"/>
                <a:cs typeface="Arial"/>
              </a:rPr>
              <a:t>Score support</a:t>
            </a:r>
          </a:p>
          <a:p xmlns:a="http://schemas.openxmlformats.org/drawingml/2006/main">
            <a:pPr>
              <a:defRPr sz="1200">
                <a:solidFill>
                  <a:srgbClr val="DCE8F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DCE8F5"/>
                </a:solidFill>
                <a:latin typeface="Arial"/>
                <a:ea typeface="Arial"/>
                <a:cs typeface="Arial"/>
              </a:rPr>
              <a:t>Detect unsupported claims</a:t>
            </a:r>
          </a:p>
          <a:p xmlns:a="http://schemas.openxmlformats.org/drawingml/2006/main">
            <a:pPr>
              <a:defRPr sz="1200">
                <a:solidFill>
                  <a:srgbClr val="DCE8F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DCE8F5"/>
                </a:solidFill>
                <a:latin typeface="Arial"/>
                <a:ea typeface="Arial"/>
                <a:cs typeface="Arial"/>
              </a:rPr>
              <a:t>Abstain when weak</a:t>
            </a:r>
          </a:p>
        </p:txBody>
      </p:sp>
      <p:sp>
        <p:nvSpPr>
          <p:cNvPr id="41" name="output-band">
            <a:extLst xmlns:a="http://schemas.openxmlformats.org/drawingml/2006/main">
              <a:ext uri="{FF2B5EF4-FFF2-40B4-BE49-F238E27FC236}">
                <a16:creationId xmlns:a16="http://schemas.microsoft.com/office/drawing/2014/main" id="{169A3C53-E97A-4985-A293-BD8E0154B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0"/>
            <a:ext cx="104965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13335">
            <a:solidFill>
              <a:srgbClr val="B8BCC4"/>
            </a:solidFill>
            <a:prstDash val="solid"/>
          </a:ln>
        </p:spPr>
      </p:sp>
      <p:sp>
        <p:nvSpPr>
          <p:cNvPr id="42" name="output-title">
            <a:extLst xmlns:a="http://schemas.openxmlformats.org/drawingml/2006/main">
              <a:ext uri="{FF2B5EF4-FFF2-40B4-BE49-F238E27FC236}">
                <a16:creationId xmlns:a16="http://schemas.microsoft.com/office/drawing/2014/main" id="{BB45FCDA-2089-443C-B150-3DEC28873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054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3889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71A3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71A33"/>
                </a:solidFill>
                <a:latin typeface="Arial"/>
                <a:ea typeface="Arial"/>
                <a:cs typeface="Arial"/>
              </a:rPr>
              <a:t>Structured response</a:t>
            </a:r>
          </a:p>
        </p:txBody>
      </p:sp>
      <p:sp>
        <p:nvSpPr>
          <p:cNvPr id="43" name="output-summary">
            <a:extLst xmlns:a="http://schemas.openxmlformats.org/drawingml/2006/main">
              <a:ext uri="{FF2B5EF4-FFF2-40B4-BE49-F238E27FC236}">
                <a16:creationId xmlns:a16="http://schemas.microsoft.com/office/drawing/2014/main" id="{D3D58D5C-C06C-4B24-A4A7-4406F483C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67350"/>
            <a:ext cx="2038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316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Recommended answer</a:t>
            </a:r>
          </a:p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Ordered actions + warnings</a:t>
            </a:r>
          </a:p>
        </p:txBody>
      </p:sp>
      <p:sp>
        <p:nvSpPr>
          <p:cNvPr id="44" name="output-evidence">
            <a:extLst xmlns:a="http://schemas.openxmlformats.org/drawingml/2006/main">
              <a:ext uri="{FF2B5EF4-FFF2-40B4-BE49-F238E27FC236}">
                <a16:creationId xmlns:a16="http://schemas.microsoft.com/office/drawing/2014/main" id="{E149ADB3-44F4-40A3-BA0F-D32F304A1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46735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597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Evidence cards</a:t>
            </a:r>
          </a:p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Document + section + excerpt</a:t>
            </a:r>
          </a:p>
        </p:txBody>
      </p:sp>
      <p:sp>
        <p:nvSpPr>
          <p:cNvPr id="45" name="output-score">
            <a:extLst xmlns:a="http://schemas.openxmlformats.org/drawingml/2006/main">
              <a:ext uri="{FF2B5EF4-FFF2-40B4-BE49-F238E27FC236}">
                <a16:creationId xmlns:a16="http://schemas.microsoft.com/office/drawing/2014/main" id="{B0B7CF87-5640-41A5-990F-CC71AEFD9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46735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534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 score</a:t>
            </a:r>
          </a:p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Coverage, routing, agreement</a:t>
            </a:r>
          </a:p>
        </p:txBody>
      </p:sp>
      <p:sp>
        <p:nvSpPr>
          <p:cNvPr id="46" name="output-feedback">
            <a:extLst xmlns:a="http://schemas.openxmlformats.org/drawingml/2006/main">
              <a:ext uri="{FF2B5EF4-FFF2-40B4-BE49-F238E27FC236}">
                <a16:creationId xmlns:a16="http://schemas.microsoft.com/office/drawing/2014/main" id="{61DA5D6C-1351-48E9-9B19-F1251FFBC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546735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422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Human decision</a:t>
            </a:r>
          </a:p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Approve or request correction</a:t>
            </a:r>
          </a:p>
        </p:txBody>
      </p:sp>
      <p:sp>
        <p:nvSpPr>
          <p:cNvPr id="47" name="guardrail">
            <a:extLst xmlns:a="http://schemas.openxmlformats.org/drawingml/2006/main">
              <a:ext uri="{FF2B5EF4-FFF2-40B4-BE49-F238E27FC236}">
                <a16:creationId xmlns:a16="http://schemas.microsoft.com/office/drawing/2014/main" id="{A7A58F26-9FBE-4AC2-AE33-C357DFA31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942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71A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71A33"/>
                </a:solidFill>
                <a:latin typeface="Arial"/>
                <a:ea typeface="Arial"/>
                <a:cs typeface="Arial"/>
              </a:rPr>
              <a:t>Guardrail: low evidence → ask for clarification or escalate; never invent a plant procedure.</a:t>
            </a:r>
          </a:p>
        </p:txBody>
      </p:sp>
      <p:sp>
        <p:nvSpPr>
          <p:cNvPr id="48" name="stack">
            <a:extLst xmlns:a="http://schemas.openxmlformats.org/drawingml/2006/main">
              <a:ext uri="{FF2B5EF4-FFF2-40B4-BE49-F238E27FC236}">
                <a16:creationId xmlns:a16="http://schemas.microsoft.com/office/drawing/2014/main" id="{EA57DE7C-5943-4E00-974C-ADB7B6402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6362700"/>
            <a:ext cx="3752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5707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5707F"/>
                </a:solidFill>
                <a:latin typeface="Arial"/>
                <a:ea typeface="Arial"/>
                <a:cs typeface="Arial"/>
              </a:rPr>
              <a:t>FastAPI • Gemini • mock corpus • optional Supabase feedback</a:t>
            </a:r>
          </a:p>
        </p:txBody>
      </p:sp>
    </p:spTree>
    <p:extLst>
      <p:ext uri="{BB962C8B-B14F-4D97-AF65-F5344CB8AC3E}">
        <p14:creationId xmlns:p14="http://schemas.microsoft.com/office/powerpoint/2010/main" val="54887647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2026-09-01T17:54:21.3150000Z</dcterms:created>
  <dcterms:modified xsi:type="dcterms:W3CDTF">2026-09-01T17:54:21.3150000Z</dcterms:modified>
</coreProperties>
</file>