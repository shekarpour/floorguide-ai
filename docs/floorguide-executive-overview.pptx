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b2758426e467a" /><Relationship Type="http://schemas.openxmlformats.org/officeDocument/2006/relationships/extended-properties" Target="/docProps/app.xml" Id="R7042e4f9ec144878" /><Relationship Type="http://schemas.openxmlformats.org/officeDocument/2006/relationships/officeDocument" Target="/ppt/presentation.xml" Id="Rb896b263baa44e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ab077a44f40a0"/>
  </p:sldMasterIdLst>
  <p:notesMasterIdLst>
    <p:notesMasterId xmlns:r="http://schemas.openxmlformats.org/officeDocument/2006/relationships" r:id="Rb750cde7d7404b43"/>
  </p:notesMasterIdLst>
  <p:sldIdLst>
    <p:sldId xmlns:r="http://schemas.openxmlformats.org/officeDocument/2006/relationships" id="256" r:id="R1abda86218b44c56"/>
    <p:sldId xmlns:r="http://schemas.openxmlformats.org/officeDocument/2006/relationships" id="257" r:id="Re4c3783e8a624438"/>
    <p:sldId xmlns:r="http://schemas.openxmlformats.org/officeDocument/2006/relationships" id="258" r:id="Rcaac7aa49d0e4644"/>
    <p:sldId xmlns:r="http://schemas.openxmlformats.org/officeDocument/2006/relationships" id="259" r:id="R850d3e418ffe4056"/>
    <p:sldId xmlns:r="http://schemas.openxmlformats.org/officeDocument/2006/relationships" id="260" r:id="R4028754d1c1749d9"/>
    <p:sldId xmlns:r="http://schemas.openxmlformats.org/officeDocument/2006/relationships" id="261" r:id="R96ac845d75ee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b993bf3b142f4" /><Relationship Type="http://schemas.openxmlformats.org/officeDocument/2006/relationships/slideMaster" Target="/ppt/slideMasters/slideMaster1.xml" Id="Rd7aab077a44f40a0" /><Relationship Type="http://schemas.openxmlformats.org/officeDocument/2006/relationships/notesMaster" Target="/ppt/notesMasters/notesMaster1.xml" Id="Rb750cde7d7404b43" /><Relationship Type="http://schemas.openxmlformats.org/officeDocument/2006/relationships/presProps" Target="/ppt/presProps.xml" Id="Rc2218f26c3254a96" /><Relationship Type="http://schemas.openxmlformats.org/officeDocument/2006/relationships/tableStyles" Target="/ppt/tableStyles.xml" Id="Rc48d1683e4e44cc7" /><Relationship Type="http://schemas.openxmlformats.org/officeDocument/2006/relationships/slide" Target="/ppt/slides/slide1.xml" Id="R1abda86218b44c56" /><Relationship Type="http://schemas.openxmlformats.org/officeDocument/2006/relationships/slide" Target="/ppt/slides/slide2.xml" Id="Re4c3783e8a624438" /><Relationship Type="http://schemas.openxmlformats.org/officeDocument/2006/relationships/slide" Target="/ppt/slides/slide3.xml" Id="Rcaac7aa49d0e4644" /><Relationship Type="http://schemas.openxmlformats.org/officeDocument/2006/relationships/slide" Target="/ppt/slides/slide4.xml" Id="R850d3e418ffe4056" /><Relationship Type="http://schemas.openxmlformats.org/officeDocument/2006/relationships/slide" Target="/ppt/slides/slide5.xml" Id="R4028754d1c1749d9" /><Relationship Type="http://schemas.openxmlformats.org/officeDocument/2006/relationships/slide" Target="/ppt/slides/slide6.xml" Id="R96ac845d75ee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7025f07b59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4060712c442d3" /><Relationship Type="http://schemas.openxmlformats.org/officeDocument/2006/relationships/notesMaster" Target="/ppt/notesMasters/notesMaster1.xml" Id="R3500e8501d31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6bf31ffb143d0" /><Relationship Type="http://schemas.openxmlformats.org/officeDocument/2006/relationships/notesMaster" Target="/ppt/notesMasters/notesMaster1.xml" Id="R4bb9c8eb872c4d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104f3c6fa645fd" /><Relationship Type="http://schemas.openxmlformats.org/officeDocument/2006/relationships/notesMaster" Target="/ppt/notesMasters/notesMaster1.xml" Id="R1e2fe30ce49d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9d278609046f7" /><Relationship Type="http://schemas.openxmlformats.org/officeDocument/2006/relationships/notesMaster" Target="/ppt/notesMasters/notesMaster1.xml" Id="R8c2a8ad5be864e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4daa9b9004255" /><Relationship Type="http://schemas.openxmlformats.org/officeDocument/2006/relationships/notesMaster" Target="/ppt/notesMasters/notesMaster1.xml" Id="R84c5be51e5df4b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9fe42e03d4567" /><Relationship Type="http://schemas.openxmlformats.org/officeDocument/2006/relationships/notesMaster" Target="/ppt/notesMasters/notesMaster1.xml" Id="Rb85d09aed18c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operational outcome: reduce time spent searching across procedures while preserving evidence and human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artifacts and evaluation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solution as decision support, not autonomous plant control. The business value comes from speed, consistency, and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artifacts and evaluation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model does not freely browse or choose arbitrary tools: orchestration, source access, and response modes are constrained in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artifacts and evaluation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scoping decision: three compact documents were enough to demonstrate multi-source reasoning without introducing database or document-ingestion complexity. Clearly state that plant thresholds are fictional prototype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corpus: endpoints/data/safety_procedures.md</a:t>
            </a:r>
          </a:p>
          <a:p xmlns:a="http://schemas.openxmlformats.org/drawingml/2006/main">
            <a:r>
              <a:t>- Internal corpus: endpoints/data/maintenance_manual.md</a:t>
            </a:r>
          </a:p>
          <a:p xmlns:a="http://schemas.openxmlformats.org/drawingml/2006/main">
            <a:r>
              <a:t>- Internal corpus: endpoints/data/quality_control_standards.md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interaction is intentionally simple: one answer is the default. Multiple answers are a safety mechanism for genuine ambiguity, not a standard UI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artifacts and evaluation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three cases passed every deterministic check. Two misses were safe but exposed completeness and confidence-semantics gaps. This is precisely why a golden benchmark belongs in the delivery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evaluation: endpoints/evals/benchmark.json</a:t>
            </a:r>
          </a:p>
          <a:p xmlns:a="http://schemas.openxmlformats.org/drawingml/2006/main">
            <a:r>
              <a:t>- Live results: endpoints/evals/latest_results.json (3/5 passes; 86.6% average; 184.7 seconds)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a4dacf701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cbf2f659f42e1" /><Relationship Type="http://schemas.openxmlformats.org/officeDocument/2006/relationships/slideLayout" Target="/ppt/slideLayouts/slideLayout1.xml" Id="R6c6991fd1e7b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991fd1e7b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40659525442c9" /><Relationship Type="http://schemas.openxmlformats.org/officeDocument/2006/relationships/notesSlide" Target="/ppt/notesSlides/notesSlide1.xml" Id="Rd16d9a6b1b28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c1da38dda4809" /><Relationship Type="http://schemas.openxmlformats.org/officeDocument/2006/relationships/notesSlide" Target="/ppt/notesSlides/notesSlide2.xml" Id="R7b148105753041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b3d205b8b4255" /><Relationship Type="http://schemas.openxmlformats.org/officeDocument/2006/relationships/notesSlide" Target="/ppt/notesSlides/notesSlide3.xml" Id="Rdb4dd2017730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ce23611e44489" /><Relationship Type="http://schemas.openxmlformats.org/officeDocument/2006/relationships/notesSlide" Target="/ppt/notesSlides/notesSlide4.xml" Id="Rbbe72d06509041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20f3a6ff4d4b" /><Relationship Type="http://schemas.openxmlformats.org/officeDocument/2006/relationships/notesSlide" Target="/ppt/notesSlides/notesSlide5.xml" Id="Rb5fb6cf32868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581b97f244351" /><Relationship Type="http://schemas.openxmlformats.org/officeDocument/2006/relationships/chart" Target="/ppt/slides/charts/chart1.xml" Id="R367ec0df6ca04ce9" /><Relationship Type="http://schemas.openxmlformats.org/officeDocument/2006/relationships/notesSlide" Target="/ppt/notesSlides/notesSlide6.xml" Id="R2335766ae05e40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E206EB2-14BE-47E5-B36E-59EEF36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B4DA6FD-3A63-4E7E-8F9F-24A8C87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EXECUTIVE PROTOTYPE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80E52F-A098-45D0-B84D-24E27F0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</a:defRPr>
            </a:pPr>
            <a:r>
              <a:rPr sz="4650" b="1">
                <a:solidFill>
                  <a:srgbClr val="101828"/>
                </a:solidFill>
              </a:rPr>
              <a:t>FloorGuide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76EE87-862A-48F8-B9FE-7737CDB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67085"/>
                </a:solidFill>
              </a:defRPr>
            </a:pPr>
            <a:r>
              <a:rPr sz="2250" b="0">
                <a:solidFill>
                  <a:srgbClr val="667085"/>
                </a:solidFill>
              </a:rPr>
              <a:t>Grounded, verifiable guidance for plant-floor decisions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CBBF2B9E-692B-4ABC-B89F-79C8EC7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5800"/>
            <a:ext cx="33623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ield-1">
            <a:extLst xmlns:a="http://schemas.openxmlformats.org/drawingml/2006/main">
              <a:ext uri="{FF2B5EF4-FFF2-40B4-BE49-F238E27FC236}">
                <a16:creationId xmlns:a16="http://schemas.microsoft.com/office/drawing/2014/main" id="{30C990C8-86E7-4EA7-90A9-CBB2DB6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049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ASK</a:t>
            </a:r>
          </a:p>
        </p:txBody>
      </p:sp>
      <p:sp>
        <p:nvSpPr>
          <p:cNvPr id="7" name="cover-field-2">
            <a:extLst xmlns:a="http://schemas.openxmlformats.org/drawingml/2006/main">
              <a:ext uri="{FF2B5EF4-FFF2-40B4-BE49-F238E27FC236}">
                <a16:creationId xmlns:a16="http://schemas.microsoft.com/office/drawing/2014/main" id="{36156646-BB3F-4CF6-B4A7-6B71F43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Route to the right operational knowledge</a:t>
            </a:r>
          </a:p>
        </p:txBody>
      </p:sp>
      <p:sp>
        <p:nvSpPr>
          <p:cNvPr id="8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F5ECDAE6-EA27-4F18-8295-E5A267A9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908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ield-3">
            <a:extLst xmlns:a="http://schemas.openxmlformats.org/drawingml/2006/main">
              <a:ext uri="{FF2B5EF4-FFF2-40B4-BE49-F238E27FC236}">
                <a16:creationId xmlns:a16="http://schemas.microsoft.com/office/drawing/2014/main" id="{714A38B4-FA34-42B1-8EA9-B000922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ANSWER</a:t>
            </a:r>
          </a:p>
        </p:txBody>
      </p:sp>
      <p:sp>
        <p:nvSpPr>
          <p:cNvPr id="10" name="cover-field-4">
            <a:extLst xmlns:a="http://schemas.openxmlformats.org/drawingml/2006/main">
              <a:ext uri="{FF2B5EF4-FFF2-40B4-BE49-F238E27FC236}">
                <a16:creationId xmlns:a16="http://schemas.microsoft.com/office/drawing/2014/main" id="{0C4EA196-F238-4E09-87D7-41C6BE2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Return one actionable response with evidence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00EE905-5426-4245-A5CB-D7BE0C0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Agentic Forward-Deployed Engineer prototype · Scenario 1</a:t>
            </a:r>
          </a:p>
        </p:txBody>
      </p:sp>
    </p:spTree>
    <p:extLst>
      <p:ext uri="{BB962C8B-B14F-4D97-AF65-F5344CB8AC3E}">
        <p14:creationId xmlns:p14="http://schemas.microsoft.com/office/powerpoint/2010/main" val="576959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Fragmented guidance becomes a defensible decision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Today’s friction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 supervisor must interpret safety procedures, maintenance manuals, and quality standards—often under time pressure.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>→</a:t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>FloorGuide response</a:t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One recommended action by default</a:t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Grounded in the relevant documents, scored for evidence support, and linked to the exact source sections.</a:t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Human approval remains the final control point.</a:t>
            </a:r>
          </a:p>
        </p:txBody>
      </p:sp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3">
            <a:extLst xmlns:a="http://schemas.openxmlformats.org/drawingml/2006/main">
              <a:ext uri="{FF2B5EF4-FFF2-40B4-BE49-F238E27FC236}">
                <a16:creationId xmlns:a16="http://schemas.microsoft.com/office/drawing/2014/main" id="{6C0B0178-6300-410F-BCE6-93FA67F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30C6928-247B-4FFF-BD9E-31725523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workflow separates retrieval from judgment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D2D1717-13FE-4937-9E89-E6906CAE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5602459-7CA7-4DFD-B1DC-A4CB897C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arch-node-0">
            <a:extLst xmlns:a="http://schemas.openxmlformats.org/drawingml/2006/main">
              <a:ext uri="{FF2B5EF4-FFF2-40B4-BE49-F238E27FC236}">
                <a16:creationId xmlns:a16="http://schemas.microsoft.com/office/drawing/2014/main" id="{ED6AD0B5-3D5E-4F39-B851-4AB1F21D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node-1">
            <a:extLst xmlns:a="http://schemas.openxmlformats.org/drawingml/2006/main">
              <a:ext uri="{FF2B5EF4-FFF2-40B4-BE49-F238E27FC236}">
                <a16:creationId xmlns:a16="http://schemas.microsoft.com/office/drawing/2014/main" id="{B9BA3A55-8EA7-4C76-9A02-F2DB9D8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D83FD088-DB16-49E3-AD1A-6EC0473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3">
            <a:extLst xmlns:a="http://schemas.openxmlformats.org/drawingml/2006/main">
              <a:ext uri="{FF2B5EF4-FFF2-40B4-BE49-F238E27FC236}">
                <a16:creationId xmlns:a16="http://schemas.microsoft.com/office/drawing/2014/main" id="{8A1CE228-BDEB-4CE7-9726-C1A760F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B5EA0AE8-65F8-45A1-97BA-01CFA0A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622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434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246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sp>
        <p:nvSpPr>
          <p:cNvPr id="14" name="arch-num-0">
            <a:extLst xmlns:a="http://schemas.openxmlformats.org/drawingml/2006/main">
              <a:ext uri="{FF2B5EF4-FFF2-40B4-BE49-F238E27FC236}">
                <a16:creationId xmlns:a16="http://schemas.microsoft.com/office/drawing/2014/main" id="{4DF9A21B-585B-48BD-96E5-285A136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1</a:t>
            </a:r>
          </a:p>
        </p:txBody>
      </p:sp>
      <p:sp>
        <p:nvSpPr>
          <p:cNvPr id="15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97137E4C-D7B8-46D1-B493-DEBEA89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Interpret</a:t>
            </a:r>
          </a:p>
        </p:txBody>
      </p:sp>
      <p:sp>
        <p:nvSpPr>
          <p:cNvPr id="16" name="arch-desc-0">
            <a:extLst xmlns:a="http://schemas.openxmlformats.org/drawingml/2006/main">
              <a:ext uri="{FF2B5EF4-FFF2-40B4-BE49-F238E27FC236}">
                <a16:creationId xmlns:a16="http://schemas.microsoft.com/office/drawing/2014/main" id="{F485E14E-22C1-43CD-9A62-018746C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Recognize intent</a:t>
            </a:r>
          </a:p>
        </p:txBody>
      </p:sp>
      <p:sp>
        <p:nvSpPr>
          <p:cNvPr id="17" name="arch-num-1">
            <a:extLst xmlns:a="http://schemas.openxmlformats.org/drawingml/2006/main">
              <a:ext uri="{FF2B5EF4-FFF2-40B4-BE49-F238E27FC236}">
                <a16:creationId xmlns:a16="http://schemas.microsoft.com/office/drawing/2014/main" id="{7B99BD1F-50A0-4F25-A864-DEBE30C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2</a:t>
            </a:r>
          </a:p>
        </p:txBody>
      </p:sp>
      <p:sp>
        <p:nvSpPr>
          <p:cNvPr id="1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F2D49D07-EA43-4292-9834-AC6F067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Route</a:t>
            </a:r>
          </a:p>
        </p:txBody>
      </p:sp>
      <p:sp>
        <p:nvSpPr>
          <p:cNvPr id="19" name="arch-desc-1">
            <a:extLst xmlns:a="http://schemas.openxmlformats.org/drawingml/2006/main">
              <a:ext uri="{FF2B5EF4-FFF2-40B4-BE49-F238E27FC236}">
                <a16:creationId xmlns:a16="http://schemas.microsoft.com/office/drawing/2014/main" id="{E72D4E70-C611-4746-8FF4-66CE06F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Select 1–3 sources</a:t>
            </a:r>
          </a:p>
        </p:txBody>
      </p:sp>
      <p:sp>
        <p:nvSpPr>
          <p:cNvPr id="20" name="arch-num-2">
            <a:extLst xmlns:a="http://schemas.openxmlformats.org/drawingml/2006/main">
              <a:ext uri="{FF2B5EF4-FFF2-40B4-BE49-F238E27FC236}">
                <a16:creationId xmlns:a16="http://schemas.microsoft.com/office/drawing/2014/main" id="{67997FDA-50D2-4463-9D2F-0D6C990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3</a:t>
            </a:r>
          </a:p>
        </p:txBody>
      </p:sp>
      <p:sp>
        <p:nvSpPr>
          <p:cNvPr id="21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4B6BD4E3-54B1-4CB4-92DD-93B818D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Retrieve</a:t>
            </a:r>
          </a:p>
        </p:txBody>
      </p:sp>
      <p:sp>
        <p:nvSpPr>
          <p:cNvPr id="22" name="arch-desc-2">
            <a:extLst xmlns:a="http://schemas.openxmlformats.org/drawingml/2006/main">
              <a:ext uri="{FF2B5EF4-FFF2-40B4-BE49-F238E27FC236}">
                <a16:creationId xmlns:a16="http://schemas.microsoft.com/office/drawing/2014/main" id="{7E49A491-4D0E-4B9E-AAE0-1BD586E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Find cited sections</a:t>
            </a:r>
          </a:p>
        </p:txBody>
      </p:sp>
      <p:sp>
        <p:nvSpPr>
          <p:cNvPr id="23" name="arch-num-3">
            <a:extLst xmlns:a="http://schemas.openxmlformats.org/drawingml/2006/main">
              <a:ext uri="{FF2B5EF4-FFF2-40B4-BE49-F238E27FC236}">
                <a16:creationId xmlns:a16="http://schemas.microsoft.com/office/drawing/2014/main" id="{73818F8D-5DD0-4119-AA3A-E8C66CA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4</a:t>
            </a:r>
          </a:p>
        </p:txBody>
      </p:sp>
      <p:sp>
        <p:nvSpPr>
          <p:cNvPr id="2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EAF0CEEA-B27B-4A4C-85A3-5A0B2D8E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Synthesize</a:t>
            </a:r>
          </a:p>
        </p:txBody>
      </p:sp>
      <p:sp>
        <p:nvSpPr>
          <p:cNvPr id="25" name="arch-desc-3">
            <a:extLst xmlns:a="http://schemas.openxmlformats.org/drawingml/2006/main">
              <a:ext uri="{FF2B5EF4-FFF2-40B4-BE49-F238E27FC236}">
                <a16:creationId xmlns:a16="http://schemas.microsoft.com/office/drawing/2014/main" id="{1DD787B8-B11C-4A3E-AA81-923190B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Build grounded answer</a:t>
            </a:r>
          </a:p>
        </p:txBody>
      </p:sp>
      <p:sp>
        <p:nvSpPr>
          <p:cNvPr id="26" name="arch-num-4">
            <a:extLst xmlns:a="http://schemas.openxmlformats.org/drawingml/2006/main">
              <a:ext uri="{FF2B5EF4-FFF2-40B4-BE49-F238E27FC236}">
                <a16:creationId xmlns:a16="http://schemas.microsoft.com/office/drawing/2014/main" id="{B66B3020-2CB4-4FDE-AFCF-867209A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5</a:t>
            </a:r>
          </a:p>
        </p:txBody>
      </p:sp>
      <p:sp>
        <p:nvSpPr>
          <p:cNvPr id="27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EFF1E9CD-7E97-4865-B845-1B6A43C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Verify</a:t>
            </a:r>
          </a:p>
        </p:txBody>
      </p:sp>
      <p:sp>
        <p:nvSpPr>
          <p:cNvPr id="28" name="arch-desc-4">
            <a:extLst xmlns:a="http://schemas.openxmlformats.org/drawingml/2006/main">
              <a:ext uri="{FF2B5EF4-FFF2-40B4-BE49-F238E27FC236}">
                <a16:creationId xmlns:a16="http://schemas.microsoft.com/office/drawing/2014/main" id="{F9BDCBE2-C96A-4FEE-90B8-E01B9AF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Check support &amp; conflict</a:t>
            </a:r>
          </a:p>
        </p:txBody>
      </p:sp>
      <p:sp>
        <p:nvSpPr>
          <p:cNvPr id="29" name="arch-input">
            <a:extLst xmlns:a="http://schemas.openxmlformats.org/drawingml/2006/main">
              <a:ext uri="{FF2B5EF4-FFF2-40B4-BE49-F238E27FC236}">
                <a16:creationId xmlns:a16="http://schemas.microsoft.com/office/drawing/2014/main" id="{7B2E5738-5011-47F8-8171-F0F2583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Supervisor question</a:t>
            </a:r>
          </a:p>
        </p:txBody>
      </p:sp>
      <p:sp>
        <p:nvSpPr>
          <p:cNvPr id="30" name="arch-output">
            <a:extLst xmlns:a="http://schemas.openxmlformats.org/drawingml/2006/main">
              <a:ext uri="{FF2B5EF4-FFF2-40B4-BE49-F238E27FC236}">
                <a16:creationId xmlns:a16="http://schemas.microsoft.com/office/drawing/2014/main" id="{8ABCA837-061C-4357-B963-6950A00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Adaptive response</a:t>
            </a:r>
          </a:p>
        </p:txBody>
      </p:sp>
      <p:sp>
        <p:nvSpPr>
          <p:cNvPr id="31" name="arch-control">
            <a:extLst xmlns:a="http://schemas.openxmlformats.org/drawingml/2006/main">
              <a:ext uri="{FF2B5EF4-FFF2-40B4-BE49-F238E27FC236}">
                <a16:creationId xmlns:a16="http://schemas.microsoft.com/office/drawing/2014/main" id="{FF40E595-3171-4141-845E-BC1D4F7C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14900"/>
            <a:ext cx="815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Python controls tool execution and the final decision thresholds; Gemini handles structured reasoning.</a:t>
            </a:r>
          </a:p>
        </p:txBody>
      </p:sp>
    </p:spTree>
    <p:extLst>
      <p:ext uri="{BB962C8B-B14F-4D97-AF65-F5344CB8AC3E}">
        <p14:creationId xmlns:p14="http://schemas.microsoft.com/office/powerpoint/2010/main" val="1292178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B5AAC31E-623E-4035-AA3B-47E70B8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CONTEXT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76579-FD55-4751-AB10-10892FF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Compact context makes answers grounded and auditable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60BA37A-B197-4345-AF6B-8EFF939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24E1EC5-8C0F-4329-8D81-53513F8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doc-rule-0">
            <a:extLst xmlns:a="http://schemas.openxmlformats.org/drawingml/2006/main">
              <a:ext uri="{FF2B5EF4-FFF2-40B4-BE49-F238E27FC236}">
                <a16:creationId xmlns:a16="http://schemas.microsoft.com/office/drawing/2014/main" id="{10D72019-06F2-47F7-8E88-CE04B12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c-type-0">
            <a:extLst xmlns:a="http://schemas.openxmlformats.org/drawingml/2006/main">
              <a:ext uri="{FF2B5EF4-FFF2-40B4-BE49-F238E27FC236}">
                <a16:creationId xmlns:a16="http://schemas.microsoft.com/office/drawing/2014/main" id="{E440911E-1B8F-417D-8B47-FA5C5EA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7A00"/>
                </a:solidFill>
              </a:defRPr>
            </a:pPr>
            <a:r>
              <a:rPr sz="1200" b="1">
                <a:solidFill>
                  <a:srgbClr val="D17A00"/>
                </a:solidFill>
              </a:rPr>
              <a:t>SAFETY</a:t>
            </a:r>
          </a:p>
        </p:txBody>
      </p:sp>
      <p:sp>
        <p:nvSpPr>
          <p:cNvPr id="7" name="doc-id-0">
            <a:extLst xmlns:a="http://schemas.openxmlformats.org/drawingml/2006/main">
              <a:ext uri="{FF2B5EF4-FFF2-40B4-BE49-F238E27FC236}">
                <a16:creationId xmlns:a16="http://schemas.microsoft.com/office/drawing/2014/main" id="{D9B2A2FF-BC90-4C33-886C-4BFF06E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SAFE-PKG07-001</a:t>
            </a:r>
          </a:p>
        </p:txBody>
      </p:sp>
      <p:sp>
        <p:nvSpPr>
          <p:cNvPr id="8" name="doc-desc-0">
            <a:extLst xmlns:a="http://schemas.openxmlformats.org/drawingml/2006/main">
              <a:ext uri="{FF2B5EF4-FFF2-40B4-BE49-F238E27FC236}">
                <a16:creationId xmlns:a16="http://schemas.microsoft.com/office/drawing/2014/main" id="{4944A1DA-26EC-4941-97E8-DEBBBECB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Guarding, LOTO, jams, emergency response</a:t>
            </a:r>
          </a:p>
        </p:txBody>
      </p:sp>
      <p:sp>
        <p:nvSpPr>
          <p:cNvPr id="9" name="doc-rule-1">
            <a:extLst xmlns:a="http://schemas.openxmlformats.org/drawingml/2006/main">
              <a:ext uri="{FF2B5EF4-FFF2-40B4-BE49-F238E27FC236}">
                <a16:creationId xmlns:a16="http://schemas.microsoft.com/office/drawing/2014/main" id="{A066BC45-8DD3-4C02-8C08-ED6F768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c-type-1">
            <a:extLst xmlns:a="http://schemas.openxmlformats.org/drawingml/2006/main">
              <a:ext uri="{FF2B5EF4-FFF2-40B4-BE49-F238E27FC236}">
                <a16:creationId xmlns:a16="http://schemas.microsoft.com/office/drawing/2014/main" id="{F3EF0A32-D2DB-49FD-882A-6DA33AA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2FF"/>
                </a:solidFill>
              </a:defRPr>
            </a:pPr>
            <a:r>
              <a:rPr sz="1200" b="1">
                <a:solidFill>
                  <a:srgbClr val="2672FF"/>
                </a:solidFill>
              </a:rPr>
              <a:t>MAINTENANCE</a:t>
            </a:r>
          </a:p>
        </p:txBody>
      </p:sp>
      <p:sp>
        <p:nvSpPr>
          <p:cNvPr id="11" name="doc-id-1">
            <a:extLst xmlns:a="http://schemas.openxmlformats.org/drawingml/2006/main">
              <a:ext uri="{FF2B5EF4-FFF2-40B4-BE49-F238E27FC236}">
                <a16:creationId xmlns:a16="http://schemas.microsoft.com/office/drawing/2014/main" id="{96569206-FDBF-48D3-9549-7BE12C5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MAINT-PKG07-001</a:t>
            </a:r>
          </a:p>
        </p:txBody>
      </p:sp>
      <p:sp>
        <p:nvSpPr>
          <p:cNvPr id="12" name="doc-desc-1">
            <a:extLst xmlns:a="http://schemas.openxmlformats.org/drawingml/2006/main">
              <a:ext uri="{FF2B5EF4-FFF2-40B4-BE49-F238E27FC236}">
                <a16:creationId xmlns:a16="http://schemas.microsoft.com/office/drawing/2014/main" id="{E5AE3FB7-F3A6-4E8C-A5E1-655F4F7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Troubleshooting, inspection, controlled return to service</a:t>
            </a:r>
          </a:p>
        </p:txBody>
      </p:sp>
      <p:sp>
        <p:nvSpPr>
          <p:cNvPr id="13" name="doc-rule-2">
            <a:extLst xmlns:a="http://schemas.openxmlformats.org/drawingml/2006/main">
              <a:ext uri="{FF2B5EF4-FFF2-40B4-BE49-F238E27FC236}">
                <a16:creationId xmlns:a16="http://schemas.microsoft.com/office/drawing/2014/main" id="{2276815E-D8A8-4497-8830-241889B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c-type-2">
            <a:extLst xmlns:a="http://schemas.openxmlformats.org/drawingml/2006/main">
              <a:ext uri="{FF2B5EF4-FFF2-40B4-BE49-F238E27FC236}">
                <a16:creationId xmlns:a16="http://schemas.microsoft.com/office/drawing/2014/main" id="{87CC865C-52C5-4C0E-AB7D-FF9B355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B"/>
                </a:solidFill>
              </a:defRPr>
            </a:pPr>
            <a:r>
              <a:rPr sz="1200" b="1">
                <a:solidFill>
                  <a:srgbClr val="168A5B"/>
                </a:solidFill>
              </a:rPr>
              <a:t>QUALITY</a:t>
            </a:r>
          </a:p>
        </p:txBody>
      </p:sp>
      <p:sp>
        <p:nvSpPr>
          <p:cNvPr id="15" name="doc-id-2">
            <a:extLst xmlns:a="http://schemas.openxmlformats.org/drawingml/2006/main">
              <a:ext uri="{FF2B5EF4-FFF2-40B4-BE49-F238E27FC236}">
                <a16:creationId xmlns:a16="http://schemas.microsoft.com/office/drawing/2014/main" id="{9DB63DF2-9D4A-4452-8822-96AF4B0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QC-PKG07-001</a:t>
            </a:r>
          </a:p>
        </p:txBody>
      </p:sp>
      <p:sp>
        <p:nvSpPr>
          <p:cNvPr id="16" name="doc-desc-2">
            <a:extLst xmlns:a="http://schemas.openxmlformats.org/drawingml/2006/main">
              <a:ext uri="{FF2B5EF4-FFF2-40B4-BE49-F238E27FC236}">
                <a16:creationId xmlns:a16="http://schemas.microsoft.com/office/drawing/2014/main" id="{1AA9BF9B-B644-414A-8400-CC9F6F6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Checks, holds, traceability, product release</a:t>
            </a:r>
          </a:p>
        </p:txBody>
      </p:sp>
      <p:sp>
        <p:nvSpPr>
          <p:cNvPr id="17" name="context-bottom">
            <a:extLst xmlns:a="http://schemas.openxmlformats.org/drawingml/2006/main">
              <a:ext uri="{FF2B5EF4-FFF2-40B4-BE49-F238E27FC236}">
                <a16:creationId xmlns:a16="http://schemas.microsoft.com/office/drawing/2014/main" id="{45A8B5BB-68E5-4624-9FA9-D16125A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15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ext-bottom-head">
            <a:extLst xmlns:a="http://schemas.openxmlformats.org/drawingml/2006/main">
              <a:ext uri="{FF2B5EF4-FFF2-40B4-BE49-F238E27FC236}">
                <a16:creationId xmlns:a16="http://schemas.microsoft.com/office/drawing/2014/main" id="{4ABEF1BB-F38D-4E5D-A7A0-811A0B1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Built for evidence, not volume</a:t>
            </a:r>
          </a:p>
        </p:txBody>
      </p:sp>
      <p:sp>
        <p:nvSpPr>
          <p:cNvPr id="19" name="context-bottom-copy">
            <a:extLst xmlns:a="http://schemas.openxmlformats.org/drawingml/2006/main">
              <a:ext uri="{FF2B5EF4-FFF2-40B4-BE49-F238E27FC236}">
                <a16:creationId xmlns:a16="http://schemas.microsoft.com/office/drawing/2014/main" id="{933CC5E8-F4CE-4222-AC43-7BF9D03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596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Fictional plant-specific content was organized into numbered sections, chunked for retrieval, and exposed as browsable citation links.</a:t>
            </a:r>
          </a:p>
        </p:txBody>
      </p:sp>
    </p:spTree>
    <p:extLst>
      <p:ext uri="{BB962C8B-B14F-4D97-AF65-F5344CB8AC3E}">
        <p14:creationId xmlns:p14="http://schemas.microsoft.com/office/powerpoint/2010/main" val="195373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5">
            <a:extLst xmlns:a="http://schemas.openxmlformats.org/drawingml/2006/main">
              <a:ext uri="{FF2B5EF4-FFF2-40B4-BE49-F238E27FC236}">
                <a16:creationId xmlns:a16="http://schemas.microsoft.com/office/drawing/2014/main" id="{420ADA45-A798-4800-ABEB-11AFEEB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OUTPUT EXPERIENCE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5AED2F-8268-4327-9DA6-D63BC22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Adaptive responses reduce cognitive burden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765A345-4646-49FB-81EB-6B94FA0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AA8CECD-1E05-4012-9C1A-60ADA36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single-panel">
            <a:extLst xmlns:a="http://schemas.openxmlformats.org/drawingml/2006/main">
              <a:ext uri="{FF2B5EF4-FFF2-40B4-BE49-F238E27FC236}">
                <a16:creationId xmlns:a16="http://schemas.microsoft.com/office/drawing/2014/main" id="{2F77DC24-CB55-4418-9EF8-B2959EF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ngle-kicker">
            <a:extLst xmlns:a="http://schemas.openxmlformats.org/drawingml/2006/main">
              <a:ext uri="{FF2B5EF4-FFF2-40B4-BE49-F238E27FC236}">
                <a16:creationId xmlns:a16="http://schemas.microsoft.com/office/drawing/2014/main" id="{DDBF1C9C-9DC0-45DF-B6F0-7FC565D4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DEFAULT</a:t>
            </a:r>
          </a:p>
        </p:txBody>
      </p:sp>
      <p:sp>
        <p:nvSpPr>
          <p:cNvPr id="7" name="single-head">
            <a:extLst xmlns:a="http://schemas.openxmlformats.org/drawingml/2006/main">
              <a:ext uri="{FF2B5EF4-FFF2-40B4-BE49-F238E27FC236}">
                <a16:creationId xmlns:a16="http://schemas.microsoft.com/office/drawing/2014/main" id="{E9D9C9EA-4207-4EDE-81BB-07E660B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One decisive answer</a:t>
            </a:r>
          </a:p>
        </p:txBody>
      </p:sp>
      <p:sp>
        <p:nvSpPr>
          <p:cNvPr id="8" name="single-copy">
            <a:extLst xmlns:a="http://schemas.openxmlformats.org/drawingml/2006/main">
              <a:ext uri="{FF2B5EF4-FFF2-40B4-BE49-F238E27FC236}">
                <a16:creationId xmlns:a16="http://schemas.microsoft.com/office/drawing/2014/main" id="{C18A4F97-4C61-40B5-AEF9-9D6BCCD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3762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Recommended actions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Safety warnings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Escalation criteria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Evidence-support score</a:t>
            </a:r>
          </a:p>
        </p:txBody>
      </p:sp>
      <p:sp>
        <p:nvSpPr>
          <p:cNvPr id="9" name="branch-line">
            <a:extLst xmlns:a="http://schemas.openxmlformats.org/drawingml/2006/main">
              <a:ext uri="{FF2B5EF4-FFF2-40B4-BE49-F238E27FC236}">
                <a16:creationId xmlns:a16="http://schemas.microsoft.com/office/drawing/2014/main" id="{3EAC2985-1C1D-424E-BCB4-714D283D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19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ch-or">
            <a:extLst xmlns:a="http://schemas.openxmlformats.org/drawingml/2006/main">
              <a:ext uri="{FF2B5EF4-FFF2-40B4-BE49-F238E27FC236}">
                <a16:creationId xmlns:a16="http://schemas.microsoft.com/office/drawing/2014/main" id="{23481073-CE73-4BCB-97EC-54F6766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IF</a:t>
            </a:r>
          </a:p>
        </p:txBody>
      </p:sp>
      <p:sp>
        <p:nvSpPr>
          <p:cNvPr id="11" name="multiple-kicker">
            <a:extLst xmlns:a="http://schemas.openxmlformats.org/drawingml/2006/main">
              <a:ext uri="{FF2B5EF4-FFF2-40B4-BE49-F238E27FC236}">
                <a16:creationId xmlns:a16="http://schemas.microsoft.com/office/drawing/2014/main" id="{2DBE519D-4A5B-40A0-97F3-019EB9C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7A00"/>
                </a:solidFill>
              </a:defRPr>
            </a:pPr>
            <a:r>
              <a:rPr sz="1125" b="1">
                <a:solidFill>
                  <a:srgbClr val="D17A00"/>
                </a:solidFill>
              </a:rPr>
              <a:t>ONLY WHEN NEEDED</a:t>
            </a:r>
          </a:p>
        </p:txBody>
      </p:sp>
      <p:sp>
        <p:nvSpPr>
          <p:cNvPr id="12" name="multiple-head">
            <a:extLst xmlns:a="http://schemas.openxmlformats.org/drawingml/2006/main">
              <a:ext uri="{FF2B5EF4-FFF2-40B4-BE49-F238E27FC236}">
                <a16:creationId xmlns:a16="http://schemas.microsoft.com/office/drawing/2014/main" id="{56897DF3-426A-4D12-B89F-AA43297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Alternatives or escalation</a:t>
            </a:r>
          </a:p>
        </p:txBody>
      </p:sp>
      <p:sp>
        <p:nvSpPr>
          <p:cNvPr id="13" name="multiple-copy">
            <a:extLst xmlns:a="http://schemas.openxmlformats.org/drawingml/2006/main">
              <a:ext uri="{FF2B5EF4-FFF2-40B4-BE49-F238E27FC236}">
                <a16:creationId xmlns:a16="http://schemas.microsoft.com/office/drawing/2014/main" id="{71872044-3F75-4648-B9C6-4366B1C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Show 2–3 interpretations for material ambiguity or conflicting guidance. Abstain when the requested fact is not supported.</a:t>
            </a:r>
          </a:p>
        </p:txBody>
      </p:sp>
      <p:sp>
        <p:nvSpPr>
          <p:cNvPr id="14" name="clickable">
            <a:extLst xmlns:a="http://schemas.openxmlformats.org/drawingml/2006/main">
              <a:ext uri="{FF2B5EF4-FFF2-40B4-BE49-F238E27FC236}">
                <a16:creationId xmlns:a16="http://schemas.microsoft.com/office/drawing/2014/main" id="{3C5FA72B-19DE-4EBA-9D86-A281F20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Every citation opens the exact supporting section.</a:t>
            </a:r>
          </a:p>
        </p:txBody>
      </p:sp>
    </p:spTree>
    <p:extLst>
      <p:ext uri="{BB962C8B-B14F-4D97-AF65-F5344CB8AC3E}">
        <p14:creationId xmlns:p14="http://schemas.microsoft.com/office/powerpoint/2010/main" val="137612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EVIDENCE &amp; NEXT STEP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Benchmarking validates the core and reveals the next control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58102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7ec0df6ca04ce9"/>
          </a:graphicData>
        </a:graphic>
      </p:graphicFrame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678C0E7-B64D-4DD0-B3DA-82C031B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3/5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5126BE-EC52-4F4E-9EA7-8B3FD4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passes</a:t>
            </a:r>
          </a:p>
        </p:txBody>
      </p:sp>
      <p:sp>
        <p:nvSpPr>
          <p:cNvPr id="8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E6E7B92-BC3E-4A50-81EE-4F129CF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63FBED4-22DE-45BE-8093-148BF7E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72FF"/>
                </a:solidFill>
              </a:defRPr>
            </a:pPr>
            <a:r>
              <a:rPr sz="3600" b="1">
                <a:solidFill>
                  <a:srgbClr val="2672FF"/>
                </a:solidFill>
              </a:rPr>
              <a:t>86.6%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8080DEB3-DDF3-40E9-AF91-68740A5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average check score</a:t>
            </a:r>
          </a:p>
        </p:txBody>
      </p:sp>
      <p:sp>
        <p:nvSpPr>
          <p:cNvPr id="11" name="benchmark-rule">
            <a:extLst xmlns:a="http://schemas.openxmlformats.org/drawingml/2006/main">
              <a:ext uri="{FF2B5EF4-FFF2-40B4-BE49-F238E27FC236}">
                <a16:creationId xmlns:a16="http://schemas.microsoft.com/office/drawing/2014/main" id="{107B873C-C8EA-4B78-B16F-BA02B0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enchmark-learning-head">
            <a:extLst xmlns:a="http://schemas.openxmlformats.org/drawingml/2006/main">
              <a:ext uri="{FF2B5EF4-FFF2-40B4-BE49-F238E27FC236}">
                <a16:creationId xmlns:a16="http://schemas.microsoft.com/office/drawing/2014/main" id="{AC989640-3771-414E-ABED-7E697B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What we learned</a:t>
            </a:r>
          </a:p>
        </p:txBody>
      </p:sp>
      <p:sp>
        <p:nvSpPr>
          <p:cNvPr id="13" name="benchmark-learning">
            <a:extLst xmlns:a="http://schemas.openxmlformats.org/drawingml/2006/main">
              <a:ext uri="{FF2B5EF4-FFF2-40B4-BE49-F238E27FC236}">
                <a16:creationId xmlns:a16="http://schemas.microsoft.com/office/drawing/2014/main" id="{F53BCD4D-8811-4269-A21C-874F329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Restart guidance must preserve exact quantities.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“Supported abstention” is not the same as “answerable.”</a:t>
            </a:r>
          </a:p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Next: add an explicit answerability gate.</a:t>
            </a:r>
          </a:p>
        </p:txBody>
      </p:sp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No unsafe or invented instructions were detected across the five live cases.</a:t>
            </a:r>
          </a:p>
        </p:txBody>
      </p:sp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2026-09-01T19:15:36.2060000Z</dcterms:created>
  <dcterms:modified xsi:type="dcterms:W3CDTF">2026-09-01T19:15:36.2070000Z</dcterms:modified>
</coreProperties>
</file>