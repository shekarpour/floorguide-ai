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dcdb299a4b4aa5" /><Relationship Type="http://schemas.openxmlformats.org/officeDocument/2006/relationships/extended-properties" Target="/docProps/app.xml" Id="R43ecad0020ab4c0e" /><Relationship Type="http://schemas.openxmlformats.org/officeDocument/2006/relationships/officeDocument" Target="/ppt/presentation.xml" Id="R53ec4d6d849b4b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9f6cc9b584be3"/>
  </p:sldMasterIdLst>
  <p:notesMasterIdLst>
    <p:notesMasterId xmlns:r="http://schemas.openxmlformats.org/officeDocument/2006/relationships" r:id="R9087836493494bcb"/>
  </p:notesMasterIdLst>
  <p:sldIdLst>
    <p:sldId xmlns:r="http://schemas.openxmlformats.org/officeDocument/2006/relationships" id="256" r:id="Rc8399f6ec64849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0a78f380844be" /><Relationship Type="http://schemas.openxmlformats.org/officeDocument/2006/relationships/slideMaster" Target="/ppt/slideMasters/slideMaster1.xml" Id="R98f9f6cc9b584be3" /><Relationship Type="http://schemas.openxmlformats.org/officeDocument/2006/relationships/notesMaster" Target="/ppt/notesMasters/notesMaster1.xml" Id="R9087836493494bcb" /><Relationship Type="http://schemas.openxmlformats.org/officeDocument/2006/relationships/presProps" Target="/ppt/presProps.xml" Id="Rf8ce22f679d8499f" /><Relationship Type="http://schemas.openxmlformats.org/officeDocument/2006/relationships/tableStyles" Target="/ppt/tableStyles.xml" Id="Rf56d7beb795f4d9a" /><Relationship Type="http://schemas.openxmlformats.org/officeDocument/2006/relationships/slide" Target="/ppt/slides/slide1.xml" Id="Rc8399f6ec648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d21111c8654a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b5471ad70f4520" /><Relationship Type="http://schemas.openxmlformats.org/officeDocument/2006/relationships/notesMaster" Target="/ppt/notesMasters/notesMaster1.xml" Id="Rfd1041d9224044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468e75e694d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688c2ce8564ab6" /><Relationship Type="http://schemas.openxmlformats.org/officeDocument/2006/relationships/slideLayout" Target="/ppt/slideLayouts/slideLayout1.xml" Id="Rde88547ee24a4e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8547ee24a4e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6681e97384c9b" /><Relationship Type="http://schemas.openxmlformats.org/officeDocument/2006/relationships/notesSlide" Target="/ppt/notesSlides/notesSlide1.xml" Id="Rbe7786e98dc0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input-to-router"/>
          <p:cNvCxnSpPr/>
          <p:nvPr/>
        </p:nvCxnSpPr>
        <p:spPr>
          <a:xfrm xmlns:a="http://schemas.openxmlformats.org/drawingml/2006/main">
            <a:off x="2247900" y="31432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76" name="router-bus-in"/>
          <p:cNvCxnSpPr/>
          <p:nvPr/>
        </p:nvCxnSpPr>
        <p:spPr>
          <a:xfrm xmlns:a="http://schemas.openxmlformats.org/drawingml/2006/main">
            <a:off x="4362450" y="3143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77" name="router-bus"/>
          <p:cNvCxnSpPr/>
          <p:nvPr/>
        </p:nvCxnSpPr>
        <p:spPr>
          <a:xfrm xmlns:a="http://schemas.openxmlformats.org/drawingml/2006/main">
            <a:off x="4610100" y="2324100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78" name="router-to-safety"/>
          <p:cNvCxnSpPr/>
          <p:nvPr/>
        </p:nvCxnSpPr>
        <p:spPr>
          <a:xfrm xmlns:a="http://schemas.openxmlformats.org/drawingml/2006/main">
            <a:off x="461010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79" name="router-to-maintenance"/>
          <p:cNvCxnSpPr/>
          <p:nvPr/>
        </p:nvCxnSpPr>
        <p:spPr>
          <a:xfrm xmlns:a="http://schemas.openxmlformats.org/drawingml/2006/main">
            <a:off x="4610100" y="3143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0" name="router-to-quality"/>
          <p:cNvCxnSpPr/>
          <p:nvPr/>
        </p:nvCxnSpPr>
        <p:spPr>
          <a:xfrm xmlns:a="http://schemas.openxmlformats.org/drawingml/2006/main">
            <a:off x="4610100" y="3962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1" name="safety-to-merge"/>
          <p:cNvCxnSpPr/>
          <p:nvPr/>
        </p:nvCxnSpPr>
        <p:spPr>
          <a:xfrm xmlns:a="http://schemas.openxmlformats.org/drawingml/2006/main">
            <a:off x="6724650" y="23241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2" name="maintenance-to-merge"/>
          <p:cNvCxnSpPr/>
          <p:nvPr/>
        </p:nvCxnSpPr>
        <p:spPr>
          <a:xfrm xmlns:a="http://schemas.openxmlformats.org/drawingml/2006/main">
            <a:off x="6724650" y="31432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3" name="quality-to-merge"/>
          <p:cNvCxnSpPr/>
          <p:nvPr/>
        </p:nvCxnSpPr>
        <p:spPr>
          <a:xfrm xmlns:a="http://schemas.openxmlformats.org/drawingml/2006/main">
            <a:off x="6724650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4" name="retrieval-merge-bus"/>
          <p:cNvCxnSpPr/>
          <p:nvPr/>
        </p:nvCxnSpPr>
        <p:spPr>
          <a:xfrm xmlns:a="http://schemas.openxmlformats.org/drawingml/2006/main">
            <a:off x="6991350" y="2324100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5" name="merge-to-synthesis"/>
          <p:cNvCxnSpPr/>
          <p:nvPr/>
        </p:nvCxnSpPr>
        <p:spPr>
          <a:xfrm xmlns:a="http://schemas.openxmlformats.org/drawingml/2006/main">
            <a:off x="6991350" y="31432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6" name="synthesis-to-verifier"/>
          <p:cNvCxnSpPr/>
          <p:nvPr/>
        </p:nvCxnSpPr>
        <p:spPr>
          <a:xfrm xmlns:a="http://schemas.openxmlformats.org/drawingml/2006/main">
            <a:off x="8915400" y="31432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07F"/>
            </a:solidFill>
            <a:prstDash val="solid"/>
          </a:ln>
        </p:spPr>
      </p:cxnSp>
      <p:cxnSp>
        <p:nvCxnSpPr>
          <p:cNvPr id="87" name="verifier-to-output"/>
          <p:cNvCxnSpPr/>
          <p:nvPr/>
        </p:nvCxnSpPr>
        <p:spPr>
          <a:xfrm xmlns:a="http://schemas.openxmlformats.org/drawingml/2006/main">
            <a:off x="10210800" y="3905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11E03CA-A829-4ACB-8C99-076FC246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One endpoint turns plant questions into verified answers</a:t>
            </a:r>
          </a:p>
        </p:txBody>
      </p:sp>
      <p:sp>
        <p:nvSpPr>
          <p:cNvPr id="15" name="subtitle">
            <a:extLst xmlns:a="http://schemas.openxmlformats.org/drawingml/2006/main">
              <a:ext uri="{FF2B5EF4-FFF2-40B4-BE49-F238E27FC236}">
                <a16:creationId xmlns:a16="http://schemas.microsoft.com/office/drawing/2014/main" id="{3B3D4D35-2CD6-408B-A54A-5DC0124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579"/>
                </a:solidFill>
                <a:latin typeface="Arial"/>
                <a:ea typeface="Arial"/>
                <a:cs typeface="Arial"/>
              </a:rPr>
              <a:t>POST /api/v1/ask  •  deterministic workflow around Gemini  •  no open-ended autonomous loop</a:t>
            </a:r>
          </a:p>
        </p:txBody>
      </p:sp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33A9DAF-8CF6-44EC-A470-18F30D7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E69DA13D-9642-4254-B93A-74D3439C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1  INTAKE</a:t>
            </a:r>
          </a:p>
        </p:txBody>
      </p:sp>
      <p:sp>
        <p:nvSpPr>
          <p:cNvPr id="1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4227EF52-A232-4574-AED3-593733D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2  PLAN</a:t>
            </a:r>
          </a:p>
        </p:txBody>
      </p:sp>
      <p:sp>
        <p:nvSpPr>
          <p:cNvPr id="19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5ED9CE57-716E-4EBC-AEE3-7D42991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3  RETRIEVE</a:t>
            </a:r>
          </a:p>
        </p:txBody>
      </p:sp>
      <p:sp>
        <p:nvSpPr>
          <p:cNvPr id="20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66F90863-42AB-4CE6-9539-DE7DF8BF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4  SYNTHESIZE</a:t>
            </a:r>
          </a:p>
        </p:txBody>
      </p:sp>
      <p:sp>
        <p:nvSpPr>
          <p:cNvPr id="21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FD338BD5-DC5D-4DE0-9DAC-F98FED42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5  VERIFY</a:t>
            </a:r>
          </a:p>
        </p:txBody>
      </p:sp>
      <p:sp>
        <p:nvSpPr>
          <p:cNvPr id="22" name="intake-node">
            <a:extLst xmlns:a="http://schemas.openxmlformats.org/drawingml/2006/main">
              <a:ext uri="{FF2B5EF4-FFF2-40B4-BE49-F238E27FC236}">
                <a16:creationId xmlns:a16="http://schemas.microsoft.com/office/drawing/2014/main" id="{307B3ECD-7DE0-4762-BEF0-B0869B79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695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23" name="intake-title">
            <a:extLst xmlns:a="http://schemas.openxmlformats.org/drawingml/2006/main">
              <a:ext uri="{FF2B5EF4-FFF2-40B4-BE49-F238E27FC236}">
                <a16:creationId xmlns:a16="http://schemas.microsoft.com/office/drawing/2014/main" id="{1DFEB50B-13BA-4920-B7AF-CDFEB4A1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Question API</a:t>
            </a:r>
          </a:p>
        </p:txBody>
      </p:sp>
      <p:sp>
        <p:nvSpPr>
          <p:cNvPr id="24" name="intake-body">
            <a:extLst xmlns:a="http://schemas.openxmlformats.org/drawingml/2006/main">
              <a:ext uri="{FF2B5EF4-FFF2-40B4-BE49-F238E27FC236}">
                <a16:creationId xmlns:a16="http://schemas.microsoft.com/office/drawing/2014/main" id="{26F2EEF4-1B86-480D-96CD-F830D2F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437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Validate name + question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Create request ID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Return traceable status</a:t>
            </a:r>
          </a:p>
        </p:txBody>
      </p:sp>
      <p:sp>
        <p:nvSpPr>
          <p:cNvPr id="25" name="router-node">
            <a:extLst xmlns:a="http://schemas.openxmlformats.org/drawingml/2006/main">
              <a:ext uri="{FF2B5EF4-FFF2-40B4-BE49-F238E27FC236}">
                <a16:creationId xmlns:a16="http://schemas.microsoft.com/office/drawing/2014/main" id="{06CA326D-96D5-44BC-83CD-7FAB8723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16573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B8BCC4"/>
            </a:solidFill>
            <a:prstDash val="solid"/>
          </a:ln>
        </p:spPr>
      </p:sp>
      <p:sp>
        <p:nvSpPr>
          <p:cNvPr id="26" name="router-title">
            <a:extLst xmlns:a="http://schemas.openxmlformats.org/drawingml/2006/main">
              <a:ext uri="{FF2B5EF4-FFF2-40B4-BE49-F238E27FC236}">
                <a16:creationId xmlns:a16="http://schemas.microsoft.com/office/drawing/2014/main" id="{2835BAE8-4169-4D8F-A8AF-5AC13ED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Intent router</a:t>
            </a:r>
          </a:p>
        </p:txBody>
      </p:sp>
      <p:sp>
        <p:nvSpPr>
          <p:cNvPr id="27" name="router-body">
            <a:extLst xmlns:a="http://schemas.openxmlformats.org/drawingml/2006/main">
              <a:ext uri="{FF2B5EF4-FFF2-40B4-BE49-F238E27FC236}">
                <a16:creationId xmlns:a16="http://schemas.microsoft.com/office/drawing/2014/main" id="{F8B16A3A-4445-4E46-BF5A-BD7772B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1314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09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Structured JSON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Select 1–3 tools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Rewrite subqueries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Flag ambiguity</a:t>
            </a:r>
          </a:p>
        </p:txBody>
      </p:sp>
      <p:sp>
        <p:nvSpPr>
          <p:cNvPr id="28" name="safety-source">
            <a:extLst xmlns:a="http://schemas.openxmlformats.org/drawingml/2006/main">
              <a:ext uri="{FF2B5EF4-FFF2-40B4-BE49-F238E27FC236}">
                <a16:creationId xmlns:a16="http://schemas.microsoft.com/office/drawing/2014/main" id="{8C279700-FFA2-41CE-9824-548A137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1866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3335">
            <a:solidFill>
              <a:srgbClr val="E3A008"/>
            </a:solidFill>
            <a:prstDash val="solid"/>
          </a:ln>
        </p:spPr>
      </p:sp>
      <p:sp>
        <p:nvSpPr>
          <p:cNvPr id="29" name="safety-text">
            <a:extLst xmlns:a="http://schemas.openxmlformats.org/drawingml/2006/main">
              <a:ext uri="{FF2B5EF4-FFF2-40B4-BE49-F238E27FC236}">
                <a16:creationId xmlns:a16="http://schemas.microsoft.com/office/drawing/2014/main" id="{A2B9052A-482B-4736-8FD9-2A89DC35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526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09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B45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B4500"/>
                </a:solidFill>
                <a:latin typeface="Arial"/>
                <a:ea typeface="Arial"/>
                <a:cs typeface="Arial"/>
              </a:rPr>
              <a:t>Safety procedures</a:t>
            </a:r>
          </a:p>
        </p:txBody>
      </p:sp>
      <p:sp>
        <p:nvSpPr>
          <p:cNvPr id="30" name="maintenance-source">
            <a:extLst xmlns:a="http://schemas.openxmlformats.org/drawingml/2006/main">
              <a:ext uri="{FF2B5EF4-FFF2-40B4-BE49-F238E27FC236}">
                <a16:creationId xmlns:a16="http://schemas.microsoft.com/office/drawing/2014/main" id="{6D508855-4BDC-4681-8EF4-99A74E2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866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31" name="maintenance-text">
            <a:extLst xmlns:a="http://schemas.openxmlformats.org/drawingml/2006/main">
              <a:ext uri="{FF2B5EF4-FFF2-40B4-BE49-F238E27FC236}">
                <a16:creationId xmlns:a16="http://schemas.microsoft.com/office/drawing/2014/main" id="{E785886D-1C90-46D7-845A-DA03931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51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3B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67"/>
                </a:solidFill>
                <a:latin typeface="Arial"/>
                <a:ea typeface="Arial"/>
                <a:cs typeface="Arial"/>
              </a:rPr>
              <a:t>Maintenance manual</a:t>
            </a:r>
          </a:p>
        </p:txBody>
      </p:sp>
      <p:sp>
        <p:nvSpPr>
          <p:cNvPr id="32" name="quality-source">
            <a:extLst xmlns:a="http://schemas.openxmlformats.org/drawingml/2006/main">
              <a:ext uri="{FF2B5EF4-FFF2-40B4-BE49-F238E27FC236}">
                <a16:creationId xmlns:a16="http://schemas.microsoft.com/office/drawing/2014/main" id="{A97009F8-8D36-40B1-AD5E-BFC71CB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1866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3335">
            <a:solidFill>
              <a:srgbClr val="239B86"/>
            </a:solidFill>
            <a:prstDash val="solid"/>
          </a:ln>
        </p:spPr>
      </p:sp>
      <p:sp>
        <p:nvSpPr>
          <p:cNvPr id="33" name="quality-text">
            <a:extLst xmlns:a="http://schemas.openxmlformats.org/drawingml/2006/main">
              <a:ext uri="{FF2B5EF4-FFF2-40B4-BE49-F238E27FC236}">
                <a16:creationId xmlns:a16="http://schemas.microsoft.com/office/drawing/2014/main" id="{4D59E2A1-A45F-41F8-8292-1F9CEB8B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4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5C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5C50"/>
                </a:solidFill>
                <a:latin typeface="Arial"/>
                <a:ea typeface="Arial"/>
                <a:cs typeface="Arial"/>
              </a:rPr>
              <a:t>Quality standards</a:t>
            </a:r>
          </a:p>
        </p:txBody>
      </p:sp>
      <p:sp>
        <p:nvSpPr>
          <p:cNvPr id="34" name="retrieval-note">
            <a:extLst xmlns:a="http://schemas.openxmlformats.org/drawingml/2006/main">
              <a:ext uri="{FF2B5EF4-FFF2-40B4-BE49-F238E27FC236}">
                <a16:creationId xmlns:a16="http://schemas.microsoft.com/office/drawing/2014/main" id="{CB78DBE8-CDE1-4F1B-9F76-81EF5C7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2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579"/>
                </a:solidFill>
                <a:latin typeface="Arial"/>
                <a:ea typeface="Arial"/>
                <a:cs typeface="Arial"/>
              </a:rPr>
              <a:t>Source-specific search • top evidence chunks • section metadata</a:t>
            </a:r>
          </a:p>
        </p:txBody>
      </p:sp>
      <p:sp>
        <p:nvSpPr>
          <p:cNvPr id="35" name="synthesis-node">
            <a:extLst xmlns:a="http://schemas.openxmlformats.org/drawingml/2006/main">
              <a:ext uri="{FF2B5EF4-FFF2-40B4-BE49-F238E27FC236}">
                <a16:creationId xmlns:a16="http://schemas.microsoft.com/office/drawing/2014/main" id="{C62ECF6C-D9F8-4232-A496-94E2C1C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676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B8BCC4"/>
            </a:solidFill>
            <a:prstDash val="solid"/>
          </a:ln>
        </p:spPr>
      </p:sp>
      <p:sp>
        <p:nvSpPr>
          <p:cNvPr id="36" name="synthesis-title">
            <a:extLst xmlns:a="http://schemas.openxmlformats.org/drawingml/2006/main">
              <a:ext uri="{FF2B5EF4-FFF2-40B4-BE49-F238E27FC236}">
                <a16:creationId xmlns:a16="http://schemas.microsoft.com/office/drawing/2014/main" id="{8CA01C47-BD5D-46F2-B98A-B81B4CF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Answer agent</a:t>
            </a:r>
          </a:p>
        </p:txBody>
      </p:sp>
      <p:sp>
        <p:nvSpPr>
          <p:cNvPr id="37" name="synthesis-body">
            <a:extLst xmlns:a="http://schemas.openxmlformats.org/drawingml/2006/main">
              <a:ext uri="{FF2B5EF4-FFF2-40B4-BE49-F238E27FC236}">
                <a16:creationId xmlns:a16="http://schemas.microsoft.com/office/drawing/2014/main" id="{67A1FBA1-1C15-4F21-A403-CB1F3D94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8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Reason across sources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Prioritize safety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Attach citations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State missing facts</a:t>
            </a:r>
          </a:p>
        </p:txBody>
      </p:sp>
      <p:sp>
        <p:nvSpPr>
          <p:cNvPr id="38" name="verifier-node">
            <a:extLst xmlns:a="http://schemas.openxmlformats.org/drawingml/2006/main">
              <a:ext uri="{FF2B5EF4-FFF2-40B4-BE49-F238E27FC236}">
                <a16:creationId xmlns:a16="http://schemas.microsoft.com/office/drawing/2014/main" id="{69EFF769-ABB0-4065-9D8A-7AD5D9E8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1676400" cy="1752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13335">
            <a:solidFill>
              <a:srgbClr val="071A33"/>
            </a:solidFill>
            <a:prstDash val="solid"/>
          </a:ln>
        </p:spPr>
      </p:sp>
      <p:sp>
        <p:nvSpPr>
          <p:cNvPr id="39" name="verifier-title">
            <a:extLst xmlns:a="http://schemas.openxmlformats.org/drawingml/2006/main">
              <a:ext uri="{FF2B5EF4-FFF2-40B4-BE49-F238E27FC236}">
                <a16:creationId xmlns:a16="http://schemas.microsoft.com/office/drawing/2014/main" id="{306B70BF-C765-4C5A-B4A1-5ED24B3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gate</a:t>
            </a:r>
          </a:p>
        </p:txBody>
      </p:sp>
      <p:sp>
        <p:nvSpPr>
          <p:cNvPr id="40" name="verifier-body">
            <a:extLst xmlns:a="http://schemas.openxmlformats.org/drawingml/2006/main">
              <a:ext uri="{FF2B5EF4-FFF2-40B4-BE49-F238E27FC236}">
                <a16:creationId xmlns:a16="http://schemas.microsoft.com/office/drawing/2014/main" id="{E0989E93-70F2-49DC-A018-BCDB73A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397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Check claim coverage</a:t>
            </a:r>
          </a:p>
          <a:p xmlns:a="http://schemas.openxmlformats.org/drawingml/2006/main">
            <a:pPr>
              <a:buNone/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Detect ambiguity/conflict</a:t>
            </a:r>
          </a:p>
          <a:p xmlns:a="http://schemas.openxmlformats.org/drawingml/2006/main">
            <a:pPr>
              <a:buNone/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Single answer if decisive</a:t>
            </a:r>
          </a:p>
          <a:p xmlns:a="http://schemas.openxmlformats.org/drawingml/2006/main">
            <a:pPr>
              <a:buNone/>
              <a:defRPr sz="120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CE8F5"/>
                </a:solidFill>
                <a:latin typeface="Arial"/>
                <a:ea typeface="Arial"/>
                <a:cs typeface="Arial"/>
              </a:rPr>
              <a:t>2–3 paths only if needed</a:t>
            </a:r>
          </a:p>
        </p:txBody>
      </p:sp>
      <p:sp>
        <p:nvSpPr>
          <p:cNvPr id="41" name="output-band">
            <a:extLst xmlns:a="http://schemas.openxmlformats.org/drawingml/2006/main">
              <a:ext uri="{FF2B5EF4-FFF2-40B4-BE49-F238E27FC236}">
                <a16:creationId xmlns:a16="http://schemas.microsoft.com/office/drawing/2014/main" id="{169A3C53-E97A-4985-A293-BD8E0154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496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B8BCC4"/>
            </a:solidFill>
            <a:prstDash val="solid"/>
          </a:ln>
        </p:spPr>
      </p:sp>
      <p:sp>
        <p:nvSpPr>
          <p:cNvPr id="42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BB45FCDA-2089-443C-B150-3DEC288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Adaptive response</a:t>
            </a:r>
          </a:p>
        </p:txBody>
      </p:sp>
      <p:sp>
        <p:nvSpPr>
          <p:cNvPr id="43" name="output-summary">
            <a:extLst xmlns:a="http://schemas.openxmlformats.org/drawingml/2006/main">
              <a:ext uri="{FF2B5EF4-FFF2-40B4-BE49-F238E27FC236}">
                <a16:creationId xmlns:a16="http://schemas.microsoft.com/office/drawing/2014/main" id="{D3D58D5C-C06C-4B24-A4A7-4406F483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One answer by default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Alternatives only for ambiguity/conflict</a:t>
            </a:r>
          </a:p>
        </p:txBody>
      </p:sp>
      <p:sp>
        <p:nvSpPr>
          <p:cNvPr id="44" name="output-evidence">
            <a:extLst xmlns:a="http://schemas.openxmlformats.org/drawingml/2006/main">
              <a:ext uri="{FF2B5EF4-FFF2-40B4-BE49-F238E27FC236}">
                <a16:creationId xmlns:a16="http://schemas.microsoft.com/office/drawing/2014/main" id="{E149ADB3-44F4-40A3-BA0F-D32F304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97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cards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Document + section + excerpt</a:t>
            </a:r>
          </a:p>
        </p:txBody>
      </p:sp>
      <p:sp>
        <p:nvSpPr>
          <p:cNvPr id="45" name="output-score">
            <a:extLst xmlns:a="http://schemas.openxmlformats.org/drawingml/2006/main">
              <a:ext uri="{FF2B5EF4-FFF2-40B4-BE49-F238E27FC236}">
                <a16:creationId xmlns:a16="http://schemas.microsoft.com/office/drawing/2014/main" id="{B0B7CF87-5640-41A5-990F-CC71AEF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34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 score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Coverage, routing, agreement</a:t>
            </a:r>
          </a:p>
        </p:txBody>
      </p:sp>
      <p:sp>
        <p:nvSpPr>
          <p:cNvPr id="46" name="output-feedback">
            <a:extLst xmlns:a="http://schemas.openxmlformats.org/drawingml/2006/main">
              <a:ext uri="{FF2B5EF4-FFF2-40B4-BE49-F238E27FC236}">
                <a16:creationId xmlns:a16="http://schemas.microsoft.com/office/drawing/2014/main" id="{61DA5D6C-1351-48E9-9B19-F1251FF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6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22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Human decision</a:t>
            </a:r>
          </a:p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Approve or request correction</a:t>
            </a:r>
          </a:p>
        </p:txBody>
      </p:sp>
      <p:sp>
        <p:nvSpPr>
          <p:cNvPr id="47" name="guardrail">
            <a:extLst xmlns:a="http://schemas.openxmlformats.org/drawingml/2006/main">
              <a:ext uri="{FF2B5EF4-FFF2-40B4-BE49-F238E27FC236}">
                <a16:creationId xmlns:a16="http://schemas.microsoft.com/office/drawing/2014/main" id="{A7A58F26-9FBE-4AC2-AE33-C357DFA3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Guardrail: low evidence → ask for clarification or escalate; never invent a plant procedure.</a:t>
            </a:r>
          </a:p>
        </p:txBody>
      </p:sp>
      <p:sp>
        <p:nvSpPr>
          <p:cNvPr id="48" name="stack">
            <a:extLst xmlns:a="http://schemas.openxmlformats.org/drawingml/2006/main">
              <a:ext uri="{FF2B5EF4-FFF2-40B4-BE49-F238E27FC236}">
                <a16:creationId xmlns:a16="http://schemas.microsoft.com/office/drawing/2014/main" id="{EA57DE7C-5943-4E00-974C-ADB7B64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627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65707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5707F"/>
                </a:solidFill>
                <a:latin typeface="Arial"/>
                <a:ea typeface="Arial"/>
                <a:cs typeface="Arial"/>
              </a:rPr>
              <a:t>FastAPI • Gemini • mock corpus • optional Supabase feedback</a:t>
            </a:r>
          </a:p>
        </p:txBody>
      </p:sp>
    </p:spTree>
    <p:extLst>
      <p:ext uri="{BB962C8B-B14F-4D97-AF65-F5344CB8AC3E}">
        <p14:creationId xmlns:p14="http://schemas.microsoft.com/office/powerpoint/2010/main" val="548876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2026-09-01T18:01:30.5550000Z</dcterms:created>
  <dcterms:modified xsi:type="dcterms:W3CDTF">2026-09-01T18:01:30.5550000Z</dcterms:modified>
</coreProperties>
</file>