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8c8864a2d040bf" /><Relationship Type="http://schemas.openxmlformats.org/officeDocument/2006/relationships/extended-properties" Target="/docProps/app.xml" Id="Re467cb792569491b" /><Relationship Type="http://schemas.openxmlformats.org/officeDocument/2006/relationships/officeDocument" Target="/ppt/presentation.xml" Id="R99cf30bac7484b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aff039d1c4199"/>
  </p:sldMasterIdLst>
  <p:notesMasterIdLst>
    <p:notesMasterId xmlns:r="http://schemas.openxmlformats.org/officeDocument/2006/relationships" r:id="R2b2a6700b9844204"/>
  </p:notesMasterIdLst>
  <p:sldIdLst>
    <p:sldId xmlns:r="http://schemas.openxmlformats.org/officeDocument/2006/relationships" id="256" r:id="R0472d8ae1fcf4b57"/>
    <p:sldId xmlns:r="http://schemas.openxmlformats.org/officeDocument/2006/relationships" id="257" r:id="R1ec2ed6942f44a5a"/>
    <p:sldId xmlns:r="http://schemas.openxmlformats.org/officeDocument/2006/relationships" id="258" r:id="Rfafa288e947f4879"/>
    <p:sldId xmlns:r="http://schemas.openxmlformats.org/officeDocument/2006/relationships" id="259" r:id="R2be834b83e0c4759"/>
    <p:sldId xmlns:r="http://schemas.openxmlformats.org/officeDocument/2006/relationships" id="260" r:id="Re16c4dba69204918"/>
    <p:sldId xmlns:r="http://schemas.openxmlformats.org/officeDocument/2006/relationships" id="261" r:id="R2dfb637900a94201"/>
    <p:sldId xmlns:r="http://schemas.openxmlformats.org/officeDocument/2006/relationships" id="262" r:id="R7cdaeb18323543a4"/>
    <p:sldId xmlns:r="http://schemas.openxmlformats.org/officeDocument/2006/relationships" id="263" r:id="R8389e14405ab4264"/>
    <p:sldId xmlns:r="http://schemas.openxmlformats.org/officeDocument/2006/relationships" id="264" r:id="Rebbaede32a5c4bca"/>
    <p:sldId xmlns:r="http://schemas.openxmlformats.org/officeDocument/2006/relationships" id="265" r:id="R0b038e95405e48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dfce12d90f4a76" /><Relationship Type="http://schemas.openxmlformats.org/officeDocument/2006/relationships/slideMaster" Target="/ppt/slideMasters/slideMaster1.xml" Id="Rf77aff039d1c4199" /><Relationship Type="http://schemas.openxmlformats.org/officeDocument/2006/relationships/notesMaster" Target="/ppt/notesMasters/notesMaster1.xml" Id="R2b2a6700b9844204" /><Relationship Type="http://schemas.openxmlformats.org/officeDocument/2006/relationships/presProps" Target="/ppt/presProps.xml" Id="R433b162ee4524493" /><Relationship Type="http://schemas.openxmlformats.org/officeDocument/2006/relationships/tableStyles" Target="/ppt/tableStyles.xml" Id="Rcf96c892933b48c2" /><Relationship Type="http://schemas.openxmlformats.org/officeDocument/2006/relationships/slide" Target="/ppt/slides/slide1.xml" Id="R0472d8ae1fcf4b57" /><Relationship Type="http://schemas.openxmlformats.org/officeDocument/2006/relationships/slide" Target="/ppt/slides/slide2.xml" Id="R1ec2ed6942f44a5a" /><Relationship Type="http://schemas.openxmlformats.org/officeDocument/2006/relationships/slide" Target="/ppt/slides/slide3.xml" Id="Rfafa288e947f4879" /><Relationship Type="http://schemas.openxmlformats.org/officeDocument/2006/relationships/slide" Target="/ppt/slides/slide4.xml" Id="R2be834b83e0c4759" /><Relationship Type="http://schemas.openxmlformats.org/officeDocument/2006/relationships/slide" Target="/ppt/slides/slide5.xml" Id="Re16c4dba69204918" /><Relationship Type="http://schemas.openxmlformats.org/officeDocument/2006/relationships/slide" Target="/ppt/slides/slide6.xml" Id="R2dfb637900a94201" /><Relationship Type="http://schemas.openxmlformats.org/officeDocument/2006/relationships/slide" Target="/ppt/slides/slide7.xml" Id="R7cdaeb18323543a4" /><Relationship Type="http://schemas.openxmlformats.org/officeDocument/2006/relationships/slide" Target="/ppt/slides/slide8.xml" Id="R8389e14405ab4264" /><Relationship Type="http://schemas.openxmlformats.org/officeDocument/2006/relationships/slide" Target="/ppt/slides/slide9.xml" Id="Rebbaede32a5c4bca" /><Relationship Type="http://schemas.openxmlformats.org/officeDocument/2006/relationships/slide" Target="/ppt/slides/slide10.xml" Id="R0b038e95405e48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720a907e454c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2f09db13de4135" /><Relationship Type="http://schemas.openxmlformats.org/officeDocument/2006/relationships/notesMaster" Target="/ppt/notesMasters/notesMaster1.xml" Id="Rcb56f96cd5504f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38ef8c35ac4b60" /><Relationship Type="http://schemas.openxmlformats.org/officeDocument/2006/relationships/notesMaster" Target="/ppt/notesMasters/notesMaster1.xml" Id="Ra65ef7efa5a849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6657a2c6ea4b9a" /><Relationship Type="http://schemas.openxmlformats.org/officeDocument/2006/relationships/notesMaster" Target="/ppt/notesMasters/notesMaster1.xml" Id="R3d193c9275e24c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7134bcaf594adf" /><Relationship Type="http://schemas.openxmlformats.org/officeDocument/2006/relationships/notesMaster" Target="/ppt/notesMasters/notesMaster1.xml" Id="R03003e6e226e43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71bf0ec8304bd2" /><Relationship Type="http://schemas.openxmlformats.org/officeDocument/2006/relationships/notesMaster" Target="/ppt/notesMasters/notesMaster1.xml" Id="Rd4af24e4d1cc46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6a141672d54e3c" /><Relationship Type="http://schemas.openxmlformats.org/officeDocument/2006/relationships/notesMaster" Target="/ppt/notesMasters/notesMaster1.xml" Id="R2e71955aede441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1ad848a36d4a56" /><Relationship Type="http://schemas.openxmlformats.org/officeDocument/2006/relationships/notesMaster" Target="/ppt/notesMasters/notesMaster1.xml" Id="R625fb157713e47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4f4a1eadef41e8" /><Relationship Type="http://schemas.openxmlformats.org/officeDocument/2006/relationships/notesMaster" Target="/ppt/notesMasters/notesMaster1.xml" Id="Rdd40091cae1f44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89aed653f64a54" /><Relationship Type="http://schemas.openxmlformats.org/officeDocument/2006/relationships/notesMaster" Target="/ppt/notesMasters/notesMaster1.xml" Id="Re118c152b38347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fb8c1887d84c95" /><Relationship Type="http://schemas.openxmlformats.org/officeDocument/2006/relationships/notesMaster" Target="/ppt/notesMasters/notesMaster1.xml" Id="R49e75b3dbf56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architecture and deployed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requirements and product design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endpoints/app/agents/workflow.py; endpoints/app/agents/router.py; endpoints/app/agents/synthesizer.py; endpoints/app/agents/verifier.py.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endpoints/data/safety_procedures.md; endpoints/data/maintenance_manual.md; endpoints/data/quality_control_standards.md.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decision policy and API response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endpoints/evals/latest_report.md; endpoints/evals/latest_results.json.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endpoint implementation and prompt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screenshot of https://floorguide-ai-frontend.fly.dev, captured 2026-09-01.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endpoints/evals/latest_report.md; endpoints/evals/latest_results.json.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prototype findings and benchmark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e93bdbaac44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92b56374cf4999" /><Relationship Type="http://schemas.openxmlformats.org/officeDocument/2006/relationships/slideLayout" Target="/ppt/slideLayouts/slideLayout1.xml" Id="R99a0da22fcf44f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a0da22fcf44f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3f67869014fab" /><Relationship Type="http://schemas.openxmlformats.org/officeDocument/2006/relationships/notesSlide" Target="/ppt/notesSlides/notesSlide1.xml" Id="R3fb80213322647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94a5aea424ba2" /><Relationship Type="http://schemas.openxmlformats.org/officeDocument/2006/relationships/notesSlide" Target="/ppt/notesSlides/notesSlide2.xml" Id="Re0e8b4f38af34f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0d684d78c410f" /><Relationship Type="http://schemas.openxmlformats.org/officeDocument/2006/relationships/notesSlide" Target="/ppt/notesSlides/notesSlide3.xml" Id="R4961ff6832fe4a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700f7fffd4529" /><Relationship Type="http://schemas.openxmlformats.org/officeDocument/2006/relationships/notesSlide" Target="/ppt/notesSlides/notesSlide4.xml" Id="R79d1bcd2ff0c48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25ea0069641bb" /><Relationship Type="http://schemas.openxmlformats.org/officeDocument/2006/relationships/notesSlide" Target="/ppt/notesSlides/notesSlide5.xml" Id="Redc55a2b801846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b448ec96648df" /><Relationship Type="http://schemas.openxmlformats.org/officeDocument/2006/relationships/chart" Target="/ppt/slides/charts/chart1.xml" Id="R02f88ab8448d4055" /><Relationship Type="http://schemas.openxmlformats.org/officeDocument/2006/relationships/notesSlide" Target="/ppt/notesSlides/notesSlide6.xml" Id="Rd03d83ee613243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488f756524313" /><Relationship Type="http://schemas.openxmlformats.org/officeDocument/2006/relationships/notesSlide" Target="/ppt/notesSlides/notesSlide7.xml" Id="Rdff6154d9544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6417f41b54859" /><Relationship Type="http://schemas.openxmlformats.org/officeDocument/2006/relationships/image" Target="/ppt/media/image.png" Id="R7196d2aff8014d55" /><Relationship Type="http://schemas.openxmlformats.org/officeDocument/2006/relationships/notesSlide" Target="/ppt/notesSlides/notesSlide8.xml" Id="R7ca01903eb694c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2128d08f14bbf" /><Relationship Type="http://schemas.openxmlformats.org/officeDocument/2006/relationships/chart" Target="/ppt/slides/charts/chart2.xml" Id="R71384a653fa940a9" /><Relationship Type="http://schemas.openxmlformats.org/officeDocument/2006/relationships/notesSlide" Target="/ppt/notesSlides/notesSlide9.xml" Id="R58425aaa38e64f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00ef8e63741f8" /><Relationship Type="http://schemas.openxmlformats.org/officeDocument/2006/relationships/notesSlide" Target="/ppt/notesSlides/notesSlide10.xml" Id="Rc90937fd1c09450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Benchmark score</c:v>
          </c:tx>
          <c:spPr>
            <a:solidFill xmlns:a="http://schemas.openxmlformats.org/drawingml/2006/main">
              <a:srgbClr val="2672FF"/>
            </a:solidFill>
          </c:spPr>
          <c:cat>
            <c:strLit>
              <c:ptCount val="5"/>
              <c:pt idx="0">
                <c:v>Motor safety</c:v>
              </c:pt>
              <c:pt idx="1">
                <c:v>Guarded jam</c:v>
              </c:pt>
              <c:pt idx="2">
                <c:v>Sealer restart</c:v>
              </c:pt>
              <c:pt idx="3">
                <c:v>Lot code</c:v>
              </c:pt>
              <c:pt idx="4">
                <c:v>Missing torque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100</c:v>
              </c:pt>
              <c:pt idx="2">
                <c:v>83</c:v>
              </c:pt>
              <c:pt idx="3">
                <c:v>100</c:v>
              </c:pt>
              <c:pt idx="4">
                <c:v>50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Benchmark score</c:v>
          </c:tx>
          <c:spPr>
            <a:solidFill xmlns:a="http://schemas.openxmlformats.org/drawingml/2006/main">
              <a:srgbClr val="2672FF"/>
            </a:solidFill>
          </c:spPr>
          <c:cat>
            <c:strLit>
              <c:ptCount val="5"/>
              <c:pt idx="0">
                <c:v>Motor safety</c:v>
              </c:pt>
              <c:pt idx="1">
                <c:v>Guarded jam</c:v>
              </c:pt>
              <c:pt idx="2">
                <c:v>Sealer restart</c:v>
              </c:pt>
              <c:pt idx="3">
                <c:v>Lot code</c:v>
              </c:pt>
              <c:pt idx="4">
                <c:v>Missing torque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100</c:v>
              </c:pt>
              <c:pt idx="2">
                <c:v>83</c:v>
              </c:pt>
              <c:pt idx="3">
                <c:v>100</c:v>
              </c:pt>
              <c:pt idx="4">
                <c:v>50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E206EB2-14BE-47E5-B36E-59EEF369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B4DA6FD-3A63-4E7E-8F9F-24A8C872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72FF"/>
                </a:solidFill>
              </a:defRPr>
            </a:pPr>
            <a:r>
              <a:rPr sz="1125" b="1">
                <a:solidFill>
                  <a:srgbClr val="2672FF"/>
                </a:solidFill>
              </a:rPr>
              <a:t>EXECUTIVE PROTOTYPE REVIEW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880E52F-A098-45D0-B84D-24E27F0F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01828"/>
                </a:solidFill>
              </a:defRPr>
            </a:pPr>
            <a:r>
              <a:rPr sz="4650" b="1">
                <a:solidFill>
                  <a:srgbClr val="101828"/>
                </a:solidFill>
              </a:rPr>
              <a:t>FloorGuide AI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C76EE87-862A-48F8-B9FE-7737CDB2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67085"/>
                </a:solidFill>
              </a:defRPr>
            </a:pPr>
            <a:r>
              <a:rPr sz="2250" b="0">
                <a:solidFill>
                  <a:srgbClr val="667085"/>
                </a:solidFill>
              </a:rPr>
              <a:t>Grounded, verifiable guidance for plant-floor decisions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CBBF2B9E-692B-4ABC-B89F-79C8EC77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85800"/>
            <a:ext cx="3362325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ield-1">
            <a:extLst xmlns:a="http://schemas.openxmlformats.org/drawingml/2006/main">
              <a:ext uri="{FF2B5EF4-FFF2-40B4-BE49-F238E27FC236}">
                <a16:creationId xmlns:a16="http://schemas.microsoft.com/office/drawing/2014/main" id="{30C990C8-86E7-4EA7-90A9-CBB2DB6B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049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72FF"/>
                </a:solidFill>
              </a:defRPr>
            </a:pPr>
            <a:r>
              <a:rPr sz="1500" b="1">
                <a:solidFill>
                  <a:srgbClr val="2672FF"/>
                </a:solidFill>
              </a:rPr>
              <a:t>ASK</a:t>
            </a:r>
          </a:p>
        </p:txBody>
      </p:sp>
      <p:sp>
        <p:nvSpPr>
          <p:cNvPr id="7" name="cover-field-2">
            <a:extLst xmlns:a="http://schemas.openxmlformats.org/drawingml/2006/main">
              <a:ext uri="{FF2B5EF4-FFF2-40B4-BE49-F238E27FC236}">
                <a16:creationId xmlns:a16="http://schemas.microsoft.com/office/drawing/2014/main" id="{36156646-BB3F-4CF6-B4A7-6B71F436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240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Route to the right operational knowledge</a:t>
            </a:r>
          </a:p>
        </p:txBody>
      </p:sp>
      <p:sp>
        <p:nvSpPr>
          <p:cNvPr id="8" name="cover-field-rule">
            <a:extLst xmlns:a="http://schemas.openxmlformats.org/drawingml/2006/main">
              <a:ext uri="{FF2B5EF4-FFF2-40B4-BE49-F238E27FC236}">
                <a16:creationId xmlns:a16="http://schemas.microsoft.com/office/drawing/2014/main" id="{F5ECDAE6-EA27-4F18-8295-E5A267A9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908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field-3">
            <a:extLst xmlns:a="http://schemas.openxmlformats.org/drawingml/2006/main">
              <a:ext uri="{FF2B5EF4-FFF2-40B4-BE49-F238E27FC236}">
                <a16:creationId xmlns:a16="http://schemas.microsoft.com/office/drawing/2014/main" id="{714A38B4-FA34-42B1-8EA9-B0009220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146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72FF"/>
                </a:solidFill>
              </a:defRPr>
            </a:pPr>
            <a:r>
              <a:rPr sz="1500" b="1">
                <a:solidFill>
                  <a:srgbClr val="2672FF"/>
                </a:solidFill>
              </a:rPr>
              <a:t>ANSWER</a:t>
            </a:r>
          </a:p>
        </p:txBody>
      </p:sp>
      <p:sp>
        <p:nvSpPr>
          <p:cNvPr id="10" name="cover-field-4">
            <a:extLst xmlns:a="http://schemas.openxmlformats.org/drawingml/2006/main">
              <a:ext uri="{FF2B5EF4-FFF2-40B4-BE49-F238E27FC236}">
                <a16:creationId xmlns:a16="http://schemas.microsoft.com/office/drawing/2014/main" id="{0C4EA196-F238-4E09-87D7-41C6BE22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Return one actionable response with evidence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700EE905-5426-4245-A5CB-D7BE0C03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Agentic Forward-Deployed Engineer prototype · Scenario 1</a:t>
            </a:r>
          </a:p>
        </p:txBody>
      </p:sp>
    </p:spTree>
    <p:extLst>
      <p:ext uri="{BB962C8B-B14F-4D97-AF65-F5344CB8AC3E}">
        <p14:creationId xmlns:p14="http://schemas.microsoft.com/office/powerpoint/2010/main" val="576959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FE3081EB-8114-4235-BC4F-49D6110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EXECUTIVE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66C3F2A-D981-4573-BCB5-0302BF4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Fragmented guidance becomes a defensible decision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C14130D-75B4-41E0-A577-A33BA74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29F29AB-30CA-403D-98E0-088DE87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5" name="problem-head">
            <a:extLst xmlns:a="http://schemas.openxmlformats.org/drawingml/2006/main">
              <a:ext uri="{FF2B5EF4-FFF2-40B4-BE49-F238E27FC236}">
                <a16:creationId xmlns:a16="http://schemas.microsoft.com/office/drawing/2014/main" id="{94668640-FF05-4967-ABE9-9E82848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Today’s friction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A256E2C0-ED6C-45EA-890F-3E5E8B2B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A supervisor must interpret safety procedures, maintenance manuals, and quality standards—often under time pressure.</a:t>
            </a:r>
          </a:p>
        </p:txBody>
      </p:sp>
      <p:sp>
        <p:nvSpPr>
          <p:cNvPr id="7" name="mid-arrow-line">
            <a:extLst xmlns:a="http://schemas.openxmlformats.org/drawingml/2006/main">
              <a:ext uri="{FF2B5EF4-FFF2-40B4-BE49-F238E27FC236}">
                <a16:creationId xmlns:a16="http://schemas.microsoft.com/office/drawing/2014/main" id="{FEFC8709-BE05-44D5-BD02-C972BAC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43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d-arrow">
            <a:extLst xmlns:a="http://schemas.openxmlformats.org/drawingml/2006/main">
              <a:ext uri="{FF2B5EF4-FFF2-40B4-BE49-F238E27FC236}">
                <a16:creationId xmlns:a16="http://schemas.microsoft.com/office/drawing/2014/main" id="{53E33F00-8E6A-4B63-898C-2352484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39077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2672FF"/>
                </a:solidFill>
              </a:defRPr>
            </a:pPr>
            <a:r>
              <a:rPr sz="3150" b="1">
                <a:solidFill>
                  <a:srgbClr val="2672FF"/>
                </a:solidFill>
              </a:rPr>
              <a:t>→</a:t>
            </a:r>
          </a:p>
        </p:txBody>
      </p:sp>
      <p:sp>
        <p:nvSpPr>
          <p:cNvPr id="9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913F41E3-8BA0-470B-8C75-315D89FA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33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C416B76D-8FE1-4EE4-9DFE-3B4F15E2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52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672FF"/>
                </a:solidFill>
              </a:defRPr>
            </a:pPr>
            <a:r>
              <a:rPr sz="1875" b="1">
                <a:solidFill>
                  <a:srgbClr val="2672FF"/>
                </a:solidFill>
              </a:rPr>
              <a:t>FloorGuide response</a:t>
            </a:r>
          </a:p>
        </p:txBody>
      </p:sp>
      <p:sp>
        <p:nvSpPr>
          <p:cNvPr id="11" name="outcome-main">
            <a:extLst xmlns:a="http://schemas.openxmlformats.org/drawingml/2006/main">
              <a:ext uri="{FF2B5EF4-FFF2-40B4-BE49-F238E27FC236}">
                <a16:creationId xmlns:a16="http://schemas.microsoft.com/office/drawing/2014/main" id="{516A60A7-FDCC-4297-90CF-DB68967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One recommended action by default</a:t>
            </a:r>
          </a:p>
        </p:txBody>
      </p:sp>
      <p:sp>
        <p:nvSpPr>
          <p:cNvPr id="12" name="outcome-copy">
            <a:extLst xmlns:a="http://schemas.openxmlformats.org/drawingml/2006/main">
              <a:ext uri="{FF2B5EF4-FFF2-40B4-BE49-F238E27FC236}">
                <a16:creationId xmlns:a16="http://schemas.microsoft.com/office/drawing/2014/main" id="{2D6F7F07-86C4-4864-A980-00130464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3905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Grounded in the relevant documents, scored for evidence support, and linked to the exact source sections.</a:t>
            </a:r>
          </a:p>
        </p:txBody>
      </p:sp>
      <p:sp>
        <p:nvSpPr>
          <p:cNvPr id="13" name="guardrail">
            <a:extLst xmlns:a="http://schemas.openxmlformats.org/drawingml/2006/main">
              <a:ext uri="{FF2B5EF4-FFF2-40B4-BE49-F238E27FC236}">
                <a16:creationId xmlns:a16="http://schemas.microsoft.com/office/drawing/2014/main" id="{20CC574E-D6ED-4D70-97FF-797C6468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8A5B"/>
                </a:solidFill>
              </a:defRPr>
            </a:pPr>
            <a:r>
              <a:rPr sz="1725" b="1">
                <a:solidFill>
                  <a:srgbClr val="168A5B"/>
                </a:solidFill>
              </a:rPr>
              <a:t>Human approval remains the final control point.</a:t>
            </a:r>
          </a:p>
        </p:txBody>
      </p:sp>
    </p:spTree>
    <p:extLst>
      <p:ext uri="{BB962C8B-B14F-4D97-AF65-F5344CB8AC3E}">
        <p14:creationId xmlns:p14="http://schemas.microsoft.com/office/powerpoint/2010/main" val="1457391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-3">
            <a:extLst xmlns:a="http://schemas.openxmlformats.org/drawingml/2006/main">
              <a:ext uri="{FF2B5EF4-FFF2-40B4-BE49-F238E27FC236}">
                <a16:creationId xmlns:a16="http://schemas.microsoft.com/office/drawing/2014/main" id="{6C0B0178-6300-410F-BCE6-93FA67FF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30C6928-247B-4FFF-BD9E-31725523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The workflow separates retrieval from judgment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ED2D1717-13FE-4937-9E89-E6906CAE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5602459-7CA7-4DFD-B1DC-A4CB897C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5" name="arch-node-0">
            <a:extLst xmlns:a="http://schemas.openxmlformats.org/drawingml/2006/main">
              <a:ext uri="{FF2B5EF4-FFF2-40B4-BE49-F238E27FC236}">
                <a16:creationId xmlns:a16="http://schemas.microsoft.com/office/drawing/2014/main" id="{ED6AD0B5-3D5E-4F39-B851-4AB1F21D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node-1">
            <a:extLst xmlns:a="http://schemas.openxmlformats.org/drawingml/2006/main">
              <a:ext uri="{FF2B5EF4-FFF2-40B4-BE49-F238E27FC236}">
                <a16:creationId xmlns:a16="http://schemas.microsoft.com/office/drawing/2014/main" id="{B9BA3A55-8EA7-4C76-9A02-F2DB9D80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node-2">
            <a:extLst xmlns:a="http://schemas.openxmlformats.org/drawingml/2006/main">
              <a:ext uri="{FF2B5EF4-FFF2-40B4-BE49-F238E27FC236}">
                <a16:creationId xmlns:a16="http://schemas.microsoft.com/office/drawing/2014/main" id="{D83FD088-DB16-49E3-AD1A-6EC04734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node-3">
            <a:extLst xmlns:a="http://schemas.openxmlformats.org/drawingml/2006/main">
              <a:ext uri="{FF2B5EF4-FFF2-40B4-BE49-F238E27FC236}">
                <a16:creationId xmlns:a16="http://schemas.microsoft.com/office/drawing/2014/main" id="{8A1CE228-BDEB-4CE7-9726-C1A760F2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node-4">
            <a:extLst xmlns:a="http://schemas.openxmlformats.org/drawingml/2006/main">
              <a:ext uri="{FF2B5EF4-FFF2-40B4-BE49-F238E27FC236}">
                <a16:creationId xmlns:a16="http://schemas.microsoft.com/office/drawing/2014/main" id="{B5EA0AE8-65F8-45A1-97BA-01CFA0A0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622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434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246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3058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sp>
        <p:nvSpPr>
          <p:cNvPr id="14" name="arch-num-0">
            <a:extLst xmlns:a="http://schemas.openxmlformats.org/drawingml/2006/main">
              <a:ext uri="{FF2B5EF4-FFF2-40B4-BE49-F238E27FC236}">
                <a16:creationId xmlns:a16="http://schemas.microsoft.com/office/drawing/2014/main" id="{4DF9A21B-585B-48BD-96E5-285A1363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1</a:t>
            </a:r>
          </a:p>
        </p:txBody>
      </p:sp>
      <p:sp>
        <p:nvSpPr>
          <p:cNvPr id="15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97137E4C-D7B8-46D1-B493-DEBEA892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Interpret</a:t>
            </a:r>
          </a:p>
        </p:txBody>
      </p:sp>
      <p:sp>
        <p:nvSpPr>
          <p:cNvPr id="16" name="arch-desc-0">
            <a:extLst xmlns:a="http://schemas.openxmlformats.org/drawingml/2006/main">
              <a:ext uri="{FF2B5EF4-FFF2-40B4-BE49-F238E27FC236}">
                <a16:creationId xmlns:a16="http://schemas.microsoft.com/office/drawing/2014/main" id="{F485E14E-22C1-43CD-9A62-018746CF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Recognize intent</a:t>
            </a:r>
          </a:p>
        </p:txBody>
      </p:sp>
      <p:sp>
        <p:nvSpPr>
          <p:cNvPr id="17" name="arch-num-1">
            <a:extLst xmlns:a="http://schemas.openxmlformats.org/drawingml/2006/main">
              <a:ext uri="{FF2B5EF4-FFF2-40B4-BE49-F238E27FC236}">
                <a16:creationId xmlns:a16="http://schemas.microsoft.com/office/drawing/2014/main" id="{7B99BD1F-50A0-4F25-A864-DEBE30C2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2</a:t>
            </a:r>
          </a:p>
        </p:txBody>
      </p:sp>
      <p:sp>
        <p:nvSpPr>
          <p:cNvPr id="18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F2D49D07-EA43-4292-9834-AC6F0672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Route</a:t>
            </a:r>
          </a:p>
        </p:txBody>
      </p:sp>
      <p:sp>
        <p:nvSpPr>
          <p:cNvPr id="19" name="arch-desc-1">
            <a:extLst xmlns:a="http://schemas.openxmlformats.org/drawingml/2006/main">
              <a:ext uri="{FF2B5EF4-FFF2-40B4-BE49-F238E27FC236}">
                <a16:creationId xmlns:a16="http://schemas.microsoft.com/office/drawing/2014/main" id="{E72D4E70-C611-4746-8FF4-66CE06F9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Select 1–3 sources</a:t>
            </a:r>
          </a:p>
        </p:txBody>
      </p:sp>
      <p:sp>
        <p:nvSpPr>
          <p:cNvPr id="20" name="arch-num-2">
            <a:extLst xmlns:a="http://schemas.openxmlformats.org/drawingml/2006/main">
              <a:ext uri="{FF2B5EF4-FFF2-40B4-BE49-F238E27FC236}">
                <a16:creationId xmlns:a16="http://schemas.microsoft.com/office/drawing/2014/main" id="{67997FDA-50D2-4463-9D2F-0D6C990A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3</a:t>
            </a:r>
          </a:p>
        </p:txBody>
      </p:sp>
      <p:sp>
        <p:nvSpPr>
          <p:cNvPr id="21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4B6BD4E3-54B1-4CB4-92DD-93B818D3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Retrieve</a:t>
            </a:r>
          </a:p>
        </p:txBody>
      </p:sp>
      <p:sp>
        <p:nvSpPr>
          <p:cNvPr id="22" name="arch-desc-2">
            <a:extLst xmlns:a="http://schemas.openxmlformats.org/drawingml/2006/main">
              <a:ext uri="{FF2B5EF4-FFF2-40B4-BE49-F238E27FC236}">
                <a16:creationId xmlns:a16="http://schemas.microsoft.com/office/drawing/2014/main" id="{7E49A491-4D0E-4B9E-AAE0-1BD586E1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Find cited sections</a:t>
            </a:r>
          </a:p>
        </p:txBody>
      </p:sp>
      <p:sp>
        <p:nvSpPr>
          <p:cNvPr id="23" name="arch-num-3">
            <a:extLst xmlns:a="http://schemas.openxmlformats.org/drawingml/2006/main">
              <a:ext uri="{FF2B5EF4-FFF2-40B4-BE49-F238E27FC236}">
                <a16:creationId xmlns:a16="http://schemas.microsoft.com/office/drawing/2014/main" id="{73818F8D-5DD0-4119-AA3A-E8C66CA0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4</a:t>
            </a:r>
          </a:p>
        </p:txBody>
      </p:sp>
      <p:sp>
        <p:nvSpPr>
          <p:cNvPr id="24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EAF0CEEA-B27B-4A4C-85A3-5A0B2D8E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Synthesize</a:t>
            </a:r>
          </a:p>
        </p:txBody>
      </p:sp>
      <p:sp>
        <p:nvSpPr>
          <p:cNvPr id="25" name="arch-desc-3">
            <a:extLst xmlns:a="http://schemas.openxmlformats.org/drawingml/2006/main">
              <a:ext uri="{FF2B5EF4-FFF2-40B4-BE49-F238E27FC236}">
                <a16:creationId xmlns:a16="http://schemas.microsoft.com/office/drawing/2014/main" id="{1DD787B8-B11C-4A3E-AA81-923190BF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Build grounded answer</a:t>
            </a:r>
          </a:p>
        </p:txBody>
      </p:sp>
      <p:sp>
        <p:nvSpPr>
          <p:cNvPr id="26" name="arch-num-4">
            <a:extLst xmlns:a="http://schemas.openxmlformats.org/drawingml/2006/main">
              <a:ext uri="{FF2B5EF4-FFF2-40B4-BE49-F238E27FC236}">
                <a16:creationId xmlns:a16="http://schemas.microsoft.com/office/drawing/2014/main" id="{B66B3020-2CB4-4FDE-AFCF-867209A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5</a:t>
            </a:r>
          </a:p>
        </p:txBody>
      </p:sp>
      <p:sp>
        <p:nvSpPr>
          <p:cNvPr id="27" name="arch-label-4">
            <a:extLst xmlns:a="http://schemas.openxmlformats.org/drawingml/2006/main">
              <a:ext uri="{FF2B5EF4-FFF2-40B4-BE49-F238E27FC236}">
                <a16:creationId xmlns:a16="http://schemas.microsoft.com/office/drawing/2014/main" id="{EFF1E9CD-7E97-4865-B845-1B6A43C4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Verify</a:t>
            </a:r>
          </a:p>
        </p:txBody>
      </p:sp>
      <p:sp>
        <p:nvSpPr>
          <p:cNvPr id="28" name="arch-desc-4">
            <a:extLst xmlns:a="http://schemas.openxmlformats.org/drawingml/2006/main">
              <a:ext uri="{FF2B5EF4-FFF2-40B4-BE49-F238E27FC236}">
                <a16:creationId xmlns:a16="http://schemas.microsoft.com/office/drawing/2014/main" id="{F9BDCBE2-C96A-4FEE-90B8-E01B9AF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Check support &amp; conflict</a:t>
            </a:r>
          </a:p>
        </p:txBody>
      </p:sp>
      <p:sp>
        <p:nvSpPr>
          <p:cNvPr id="29" name="arch-input">
            <a:extLst xmlns:a="http://schemas.openxmlformats.org/drawingml/2006/main">
              <a:ext uri="{FF2B5EF4-FFF2-40B4-BE49-F238E27FC236}">
                <a16:creationId xmlns:a16="http://schemas.microsoft.com/office/drawing/2014/main" id="{7B2E5738-5011-47F8-8171-F0F2583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Supervisor question</a:t>
            </a:r>
          </a:p>
        </p:txBody>
      </p:sp>
      <p:sp>
        <p:nvSpPr>
          <p:cNvPr id="30" name="arch-output">
            <a:extLst xmlns:a="http://schemas.openxmlformats.org/drawingml/2006/main">
              <a:ext uri="{FF2B5EF4-FFF2-40B4-BE49-F238E27FC236}">
                <a16:creationId xmlns:a16="http://schemas.microsoft.com/office/drawing/2014/main" id="{8ABCA837-061C-4357-B963-6950A00E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05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Adaptive response</a:t>
            </a:r>
          </a:p>
        </p:txBody>
      </p:sp>
      <p:sp>
        <p:nvSpPr>
          <p:cNvPr id="31" name="arch-control">
            <a:extLst xmlns:a="http://schemas.openxmlformats.org/drawingml/2006/main">
              <a:ext uri="{FF2B5EF4-FFF2-40B4-BE49-F238E27FC236}">
                <a16:creationId xmlns:a16="http://schemas.microsoft.com/office/drawing/2014/main" id="{FF40E595-3171-4141-845E-BC1D4F7C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14900"/>
            <a:ext cx="815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Python controls tool execution and the final decision thresholds; Gemini handles structured reasoning.</a:t>
            </a:r>
          </a:p>
        </p:txBody>
      </p:sp>
    </p:spTree>
    <p:extLst>
      <p:ext uri="{BB962C8B-B14F-4D97-AF65-F5344CB8AC3E}">
        <p14:creationId xmlns:p14="http://schemas.microsoft.com/office/powerpoint/2010/main" val="1292178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4">
            <a:extLst xmlns:a="http://schemas.openxmlformats.org/drawingml/2006/main">
              <a:ext uri="{FF2B5EF4-FFF2-40B4-BE49-F238E27FC236}">
                <a16:creationId xmlns:a16="http://schemas.microsoft.com/office/drawing/2014/main" id="{B5AAC31E-623E-4035-AA3B-47E70B80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CONTEXT DESIGN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0276579-FD55-4751-AB10-10892FF4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Compact context makes answers grounded and auditable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360BA37A-B197-4345-AF6B-8EFF9395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24E1EC5-8C0F-4329-8D81-53513F84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" name="doc-rule-0">
            <a:extLst xmlns:a="http://schemas.openxmlformats.org/drawingml/2006/main">
              <a:ext uri="{FF2B5EF4-FFF2-40B4-BE49-F238E27FC236}">
                <a16:creationId xmlns:a16="http://schemas.microsoft.com/office/drawing/2014/main" id="{10D72019-06F2-47F7-8E88-CE04B129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c-type-0">
            <a:extLst xmlns:a="http://schemas.openxmlformats.org/drawingml/2006/main">
              <a:ext uri="{FF2B5EF4-FFF2-40B4-BE49-F238E27FC236}">
                <a16:creationId xmlns:a16="http://schemas.microsoft.com/office/drawing/2014/main" id="{E440911E-1B8F-417D-8B47-FA5C5EA5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17A00"/>
                </a:solidFill>
              </a:defRPr>
            </a:pPr>
            <a:r>
              <a:rPr sz="1200" b="1">
                <a:solidFill>
                  <a:srgbClr val="D17A00"/>
                </a:solidFill>
              </a:rPr>
              <a:t>SAFETY</a:t>
            </a:r>
          </a:p>
        </p:txBody>
      </p:sp>
      <p:sp>
        <p:nvSpPr>
          <p:cNvPr id="7" name="doc-id-0">
            <a:extLst xmlns:a="http://schemas.openxmlformats.org/drawingml/2006/main">
              <a:ext uri="{FF2B5EF4-FFF2-40B4-BE49-F238E27FC236}">
                <a16:creationId xmlns:a16="http://schemas.microsoft.com/office/drawing/2014/main" id="{D9B2A2FF-BC90-4C33-886C-4BFF06E7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SAFE-PKG07-001</a:t>
            </a:r>
          </a:p>
        </p:txBody>
      </p:sp>
      <p:sp>
        <p:nvSpPr>
          <p:cNvPr id="8" name="doc-desc-0">
            <a:extLst xmlns:a="http://schemas.openxmlformats.org/drawingml/2006/main">
              <a:ext uri="{FF2B5EF4-FFF2-40B4-BE49-F238E27FC236}">
                <a16:creationId xmlns:a16="http://schemas.microsoft.com/office/drawing/2014/main" id="{4944A1DA-26EC-4941-97E8-DEBBBECB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Guarding, LOTO, jams, emergency response</a:t>
            </a:r>
          </a:p>
        </p:txBody>
      </p:sp>
      <p:sp>
        <p:nvSpPr>
          <p:cNvPr id="9" name="doc-rule-1">
            <a:extLst xmlns:a="http://schemas.openxmlformats.org/drawingml/2006/main">
              <a:ext uri="{FF2B5EF4-FFF2-40B4-BE49-F238E27FC236}">
                <a16:creationId xmlns:a16="http://schemas.microsoft.com/office/drawing/2014/main" id="{A066BC45-8DD3-4C02-8C08-ED6F7683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812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c-type-1">
            <a:extLst xmlns:a="http://schemas.openxmlformats.org/drawingml/2006/main">
              <a:ext uri="{FF2B5EF4-FFF2-40B4-BE49-F238E27FC236}">
                <a16:creationId xmlns:a16="http://schemas.microsoft.com/office/drawing/2014/main" id="{F3EF0A32-D2DB-49FD-882A-6DA33AA5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86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672FF"/>
                </a:solidFill>
              </a:defRPr>
            </a:pPr>
            <a:r>
              <a:rPr sz="1200" b="1">
                <a:solidFill>
                  <a:srgbClr val="2672FF"/>
                </a:solidFill>
              </a:rPr>
              <a:t>MAINTENANCE</a:t>
            </a:r>
          </a:p>
        </p:txBody>
      </p:sp>
      <p:sp>
        <p:nvSpPr>
          <p:cNvPr id="11" name="doc-id-1">
            <a:extLst xmlns:a="http://schemas.openxmlformats.org/drawingml/2006/main">
              <a:ext uri="{FF2B5EF4-FFF2-40B4-BE49-F238E27FC236}">
                <a16:creationId xmlns:a16="http://schemas.microsoft.com/office/drawing/2014/main" id="{96569206-FDBF-48D3-9549-7BE12C5E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051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MAINT-PKG07-001</a:t>
            </a:r>
          </a:p>
        </p:txBody>
      </p:sp>
      <p:sp>
        <p:nvSpPr>
          <p:cNvPr id="12" name="doc-desc-1">
            <a:extLst xmlns:a="http://schemas.openxmlformats.org/drawingml/2006/main">
              <a:ext uri="{FF2B5EF4-FFF2-40B4-BE49-F238E27FC236}">
                <a16:creationId xmlns:a16="http://schemas.microsoft.com/office/drawing/2014/main" id="{E5AE3FB7-F3A6-4E8C-A5E1-655F4F76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Troubleshooting, inspection, controlled return to service</a:t>
            </a:r>
          </a:p>
        </p:txBody>
      </p:sp>
      <p:sp>
        <p:nvSpPr>
          <p:cNvPr id="13" name="doc-rule-2">
            <a:extLst xmlns:a="http://schemas.openxmlformats.org/drawingml/2006/main">
              <a:ext uri="{FF2B5EF4-FFF2-40B4-BE49-F238E27FC236}">
                <a16:creationId xmlns:a16="http://schemas.microsoft.com/office/drawing/2014/main" id="{2276815E-D8A8-4497-8830-241889B8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12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oc-type-2">
            <a:extLst xmlns:a="http://schemas.openxmlformats.org/drawingml/2006/main">
              <a:ext uri="{FF2B5EF4-FFF2-40B4-BE49-F238E27FC236}">
                <a16:creationId xmlns:a16="http://schemas.microsoft.com/office/drawing/2014/main" id="{87CC865C-52C5-4C0E-AB7D-FF9B3553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A5B"/>
                </a:solidFill>
              </a:defRPr>
            </a:pPr>
            <a:r>
              <a:rPr sz="1200" b="1">
                <a:solidFill>
                  <a:srgbClr val="168A5B"/>
                </a:solidFill>
              </a:rPr>
              <a:t>QUALITY</a:t>
            </a:r>
          </a:p>
        </p:txBody>
      </p:sp>
      <p:sp>
        <p:nvSpPr>
          <p:cNvPr id="15" name="doc-id-2">
            <a:extLst xmlns:a="http://schemas.openxmlformats.org/drawingml/2006/main">
              <a:ext uri="{FF2B5EF4-FFF2-40B4-BE49-F238E27FC236}">
                <a16:creationId xmlns:a16="http://schemas.microsoft.com/office/drawing/2014/main" id="{9DB63DF2-9D4A-4452-8822-96AF4B0A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QC-PKG07-001</a:t>
            </a:r>
          </a:p>
        </p:txBody>
      </p:sp>
      <p:sp>
        <p:nvSpPr>
          <p:cNvPr id="16" name="doc-desc-2">
            <a:extLst xmlns:a="http://schemas.openxmlformats.org/drawingml/2006/main">
              <a:ext uri="{FF2B5EF4-FFF2-40B4-BE49-F238E27FC236}">
                <a16:creationId xmlns:a16="http://schemas.microsoft.com/office/drawing/2014/main" id="{1AA9BF9B-B644-414A-8400-CC9F6F66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Checks, holds, traceability, product release</a:t>
            </a:r>
          </a:p>
        </p:txBody>
      </p:sp>
      <p:sp>
        <p:nvSpPr>
          <p:cNvPr id="17" name="context-bottom">
            <a:extLst xmlns:a="http://schemas.openxmlformats.org/drawingml/2006/main">
              <a:ext uri="{FF2B5EF4-FFF2-40B4-BE49-F238E27FC236}">
                <a16:creationId xmlns:a16="http://schemas.microsoft.com/office/drawing/2014/main" id="{45A8B5BB-68E5-4624-9FA9-D16125A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153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ext-bottom-head">
            <a:extLst xmlns:a="http://schemas.openxmlformats.org/drawingml/2006/main">
              <a:ext uri="{FF2B5EF4-FFF2-40B4-BE49-F238E27FC236}">
                <a16:creationId xmlns:a16="http://schemas.microsoft.com/office/drawing/2014/main" id="{4ABEF1BB-F38D-4E5D-A7A0-811A0B17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Built for evidence, not volume</a:t>
            </a:r>
          </a:p>
        </p:txBody>
      </p:sp>
      <p:sp>
        <p:nvSpPr>
          <p:cNvPr id="19" name="context-bottom-copy">
            <a:extLst xmlns:a="http://schemas.openxmlformats.org/drawingml/2006/main">
              <a:ext uri="{FF2B5EF4-FFF2-40B4-BE49-F238E27FC236}">
                <a16:creationId xmlns:a16="http://schemas.microsoft.com/office/drawing/2014/main" id="{933CC5E8-F4CE-4222-AC43-7BF9D03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596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Fictional plant-specific content was organized into numbered sections, chunked for retrieval, and exposed as browsable citation links.</a:t>
            </a:r>
          </a:p>
        </p:txBody>
      </p:sp>
    </p:spTree>
    <p:extLst>
      <p:ext uri="{BB962C8B-B14F-4D97-AF65-F5344CB8AC3E}">
        <p14:creationId xmlns:p14="http://schemas.microsoft.com/office/powerpoint/2010/main" val="195373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5">
            <a:extLst xmlns:a="http://schemas.openxmlformats.org/drawingml/2006/main">
              <a:ext uri="{FF2B5EF4-FFF2-40B4-BE49-F238E27FC236}">
                <a16:creationId xmlns:a16="http://schemas.microsoft.com/office/drawing/2014/main" id="{420ADA45-A798-4800-ABEB-11AFEEBF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OUTPUT EXPERIENCE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15AED2F-8268-4327-9DA6-D63BC22E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Adaptive responses reduce cognitive burden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5765A345-4646-49FB-81EB-6B94FA06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AA8CECD-1E05-4012-9C1A-60ADA36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" name="single-panel">
            <a:extLst xmlns:a="http://schemas.openxmlformats.org/drawingml/2006/main">
              <a:ext uri="{FF2B5EF4-FFF2-40B4-BE49-F238E27FC236}">
                <a16:creationId xmlns:a16="http://schemas.microsoft.com/office/drawing/2014/main" id="{2F77DC24-CB55-4418-9EF8-B2959EFB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ingle-kicker">
            <a:extLst xmlns:a="http://schemas.openxmlformats.org/drawingml/2006/main">
              <a:ext uri="{FF2B5EF4-FFF2-40B4-BE49-F238E27FC236}">
                <a16:creationId xmlns:a16="http://schemas.microsoft.com/office/drawing/2014/main" id="{DDBF1C9C-9DC0-45DF-B6F0-7FC565D4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72FF"/>
                </a:solidFill>
              </a:defRPr>
            </a:pPr>
            <a:r>
              <a:rPr sz="1125" b="1">
                <a:solidFill>
                  <a:srgbClr val="2672FF"/>
                </a:solidFill>
              </a:rPr>
              <a:t>DEFAULT</a:t>
            </a:r>
          </a:p>
        </p:txBody>
      </p:sp>
      <p:sp>
        <p:nvSpPr>
          <p:cNvPr id="7" name="single-head">
            <a:extLst xmlns:a="http://schemas.openxmlformats.org/drawingml/2006/main">
              <a:ext uri="{FF2B5EF4-FFF2-40B4-BE49-F238E27FC236}">
                <a16:creationId xmlns:a16="http://schemas.microsoft.com/office/drawing/2014/main" id="{E9D9C9EA-4207-4EDE-81BB-07E660B5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One decisive answer</a:t>
            </a:r>
          </a:p>
        </p:txBody>
      </p:sp>
      <p:sp>
        <p:nvSpPr>
          <p:cNvPr id="8" name="single-copy">
            <a:extLst xmlns:a="http://schemas.openxmlformats.org/drawingml/2006/main">
              <a:ext uri="{FF2B5EF4-FFF2-40B4-BE49-F238E27FC236}">
                <a16:creationId xmlns:a16="http://schemas.microsoft.com/office/drawing/2014/main" id="{C18A4F97-4C61-40B5-AEF9-9D6BCCDF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37623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Recommended actions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Safety warnings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Escalation criteria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Evidence-support score</a:t>
            </a:r>
          </a:p>
        </p:txBody>
      </p:sp>
      <p:sp>
        <p:nvSpPr>
          <p:cNvPr id="9" name="branch-line">
            <a:extLst xmlns:a="http://schemas.openxmlformats.org/drawingml/2006/main">
              <a:ext uri="{FF2B5EF4-FFF2-40B4-BE49-F238E27FC236}">
                <a16:creationId xmlns:a16="http://schemas.microsoft.com/office/drawing/2014/main" id="{3EAC2985-1C1D-424E-BCB4-714D283D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62150"/>
            <a:ext cx="19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ch-or">
            <a:extLst xmlns:a="http://schemas.openxmlformats.org/drawingml/2006/main">
              <a:ext uri="{FF2B5EF4-FFF2-40B4-BE49-F238E27FC236}">
                <a16:creationId xmlns:a16="http://schemas.microsoft.com/office/drawing/2014/main" id="{23481073-CE73-4BCB-97EC-54F67669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IF</a:t>
            </a:r>
          </a:p>
        </p:txBody>
      </p:sp>
      <p:sp>
        <p:nvSpPr>
          <p:cNvPr id="11" name="multiple-kicker">
            <a:extLst xmlns:a="http://schemas.openxmlformats.org/drawingml/2006/main">
              <a:ext uri="{FF2B5EF4-FFF2-40B4-BE49-F238E27FC236}">
                <a16:creationId xmlns:a16="http://schemas.microsoft.com/office/drawing/2014/main" id="{2DBE519D-4A5B-40A0-97F3-019EB9C9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17A00"/>
                </a:solidFill>
              </a:defRPr>
            </a:pPr>
            <a:r>
              <a:rPr sz="1125" b="1">
                <a:solidFill>
                  <a:srgbClr val="D17A00"/>
                </a:solidFill>
              </a:rPr>
              <a:t>ONLY WHEN NEEDED</a:t>
            </a:r>
          </a:p>
        </p:txBody>
      </p:sp>
      <p:sp>
        <p:nvSpPr>
          <p:cNvPr id="12" name="multiple-head">
            <a:extLst xmlns:a="http://schemas.openxmlformats.org/drawingml/2006/main">
              <a:ext uri="{FF2B5EF4-FFF2-40B4-BE49-F238E27FC236}">
                <a16:creationId xmlns:a16="http://schemas.microsoft.com/office/drawing/2014/main" id="{56897DF3-426A-4D12-B89F-AA43297C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Alternatives or escalation</a:t>
            </a:r>
          </a:p>
        </p:txBody>
      </p:sp>
      <p:sp>
        <p:nvSpPr>
          <p:cNvPr id="13" name="multiple-copy">
            <a:extLst xmlns:a="http://schemas.openxmlformats.org/drawingml/2006/main">
              <a:ext uri="{FF2B5EF4-FFF2-40B4-BE49-F238E27FC236}">
                <a16:creationId xmlns:a16="http://schemas.microsoft.com/office/drawing/2014/main" id="{71872044-3F75-4648-B9C6-4366B1CD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Show 2–3 interpretations for material ambiguity or conflicting guidance. Abstain when the requested fact is not supported.</a:t>
            </a:r>
          </a:p>
        </p:txBody>
      </p:sp>
      <p:sp>
        <p:nvSpPr>
          <p:cNvPr id="14" name="clickable">
            <a:extLst xmlns:a="http://schemas.openxmlformats.org/drawingml/2006/main">
              <a:ext uri="{FF2B5EF4-FFF2-40B4-BE49-F238E27FC236}">
                <a16:creationId xmlns:a16="http://schemas.microsoft.com/office/drawing/2014/main" id="{3C5FA72B-19DE-4EBA-9D86-A281F203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72FF"/>
                </a:solidFill>
              </a:defRPr>
            </a:pPr>
            <a:r>
              <a:rPr sz="1500" b="1">
                <a:solidFill>
                  <a:srgbClr val="2672FF"/>
                </a:solidFill>
              </a:rPr>
              <a:t>Every citation opens the exact supporting section.</a:t>
            </a:r>
          </a:p>
        </p:txBody>
      </p:sp>
    </p:spTree>
    <p:extLst>
      <p:ext uri="{BB962C8B-B14F-4D97-AF65-F5344CB8AC3E}">
        <p14:creationId xmlns:p14="http://schemas.microsoft.com/office/powerpoint/2010/main" val="1376122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6">
            <a:extLst xmlns:a="http://schemas.openxmlformats.org/drawingml/2006/main">
              <a:ext uri="{FF2B5EF4-FFF2-40B4-BE49-F238E27FC236}">
                <a16:creationId xmlns:a16="http://schemas.microsoft.com/office/drawing/2014/main" id="{774D2E84-C6DA-4D64-A67B-20E5AF6D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EVIDENCE &amp; NEXT STEP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1CCC3FA-B719-41F3-85DE-FF4DCFB2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Benchmarking validates the core and reveals the next control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B26D1E2F-6490-4E1F-86D5-76EB5DC2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0CB533F-02F2-440E-9E9E-018AFA0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06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5810250" cy="2971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f88ab8448d4055"/>
          </a:graphicData>
        </a:graphic>
      </p:graphicFrame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E678C0E7-B64D-4DD0-B3DA-82C031BC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3/5</a:t>
            </a:r>
          </a:p>
        </p:txBody>
      </p:sp>
      <p:sp>
        <p:nvSpPr>
          <p:cNvPr id="7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515126BE-EC52-4F4E-9EA7-8B3FD47A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7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full passes</a:t>
            </a:r>
          </a:p>
        </p:txBody>
      </p:sp>
      <p:sp>
        <p:nvSpPr>
          <p:cNvPr id="8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AE6E7B92-BC3E-4A50-81EE-4F129CF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063FBED4-22DE-45BE-8093-148BF7E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672FF"/>
                </a:solidFill>
              </a:defRPr>
            </a:pPr>
            <a:r>
              <a:rPr sz="3600" b="1">
                <a:solidFill>
                  <a:srgbClr val="2672FF"/>
                </a:solidFill>
              </a:rPr>
              <a:t>86.6%</a:t>
            </a:r>
          </a:p>
        </p:txBody>
      </p:sp>
      <p:sp>
        <p:nvSpPr>
          <p:cNvPr id="10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8080DEB3-DDF3-40E9-AF91-68740A5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average check score</a:t>
            </a:r>
          </a:p>
        </p:txBody>
      </p:sp>
      <p:sp>
        <p:nvSpPr>
          <p:cNvPr id="11" name="benchmark-rule">
            <a:extLst xmlns:a="http://schemas.openxmlformats.org/drawingml/2006/main">
              <a:ext uri="{FF2B5EF4-FFF2-40B4-BE49-F238E27FC236}">
                <a16:creationId xmlns:a16="http://schemas.microsoft.com/office/drawing/2014/main" id="{107B873C-C8EA-4B78-B16F-BA02B085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enchmark-learning-head">
            <a:extLst xmlns:a="http://schemas.openxmlformats.org/drawingml/2006/main">
              <a:ext uri="{FF2B5EF4-FFF2-40B4-BE49-F238E27FC236}">
                <a16:creationId xmlns:a16="http://schemas.microsoft.com/office/drawing/2014/main" id="{AC989640-3771-414E-ABED-7E697BC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What we learned</a:t>
            </a:r>
          </a:p>
        </p:txBody>
      </p:sp>
      <p:sp>
        <p:nvSpPr>
          <p:cNvPr id="13" name="benchmark-learning">
            <a:extLst xmlns:a="http://schemas.openxmlformats.org/drawingml/2006/main">
              <a:ext uri="{FF2B5EF4-FFF2-40B4-BE49-F238E27FC236}">
                <a16:creationId xmlns:a16="http://schemas.microsoft.com/office/drawing/2014/main" id="{F53BCD4D-8811-4269-A21C-874F3292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Restart guidance must preserve exact quantities.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“Supported abstention” is not the same as “answerable.”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Next: add an explicit answerability gate.</a:t>
            </a:r>
          </a:p>
        </p:txBody>
      </p:sp>
      <p:sp>
        <p:nvSpPr>
          <p:cNvPr id="14" name="benchmark-footer">
            <a:extLst xmlns:a="http://schemas.openxmlformats.org/drawingml/2006/main">
              <a:ext uri="{FF2B5EF4-FFF2-40B4-BE49-F238E27FC236}">
                <a16:creationId xmlns:a16="http://schemas.microsoft.com/office/drawing/2014/main" id="{4DC8B0A9-0E24-4539-9CF9-EC6E12B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85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8A5B"/>
                </a:solidFill>
              </a:defRPr>
            </a:pPr>
            <a:r>
              <a:rPr sz="1575" b="1">
                <a:solidFill>
                  <a:srgbClr val="168A5B"/>
                </a:solidFill>
              </a:rPr>
              <a:t>No unsafe or invented instructions were detected across the five live cases.</a:t>
            </a:r>
          </a:p>
        </p:txBody>
      </p:sp>
    </p:spTree>
    <p:extLst>
      <p:ext uri="{BB962C8B-B14F-4D97-AF65-F5344CB8AC3E}">
        <p14:creationId xmlns:p14="http://schemas.microsoft.com/office/powerpoint/2010/main" val="1293099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-3">
            <a:extLst xmlns:a="http://schemas.openxmlformats.org/drawingml/2006/main">
              <a:ext uri="{FF2B5EF4-FFF2-40B4-BE49-F238E27FC236}">
                <a16:creationId xmlns:a16="http://schemas.microsoft.com/office/drawing/2014/main" id="{6C0B0178-6300-410F-BCE6-93FA67FF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CONTROL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30C6928-247B-4FFF-BD9E-31725523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Typed stages make the agent inspectable and governable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ED2D1717-13FE-4937-9E89-E6906CAE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5602459-7CA7-4DFD-B1DC-A4CB897C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5" name="arch-node-0">
            <a:extLst xmlns:a="http://schemas.openxmlformats.org/drawingml/2006/main">
              <a:ext uri="{FF2B5EF4-FFF2-40B4-BE49-F238E27FC236}">
                <a16:creationId xmlns:a16="http://schemas.microsoft.com/office/drawing/2014/main" id="{ED6AD0B5-3D5E-4F39-B851-4AB1F21D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node-1">
            <a:extLst xmlns:a="http://schemas.openxmlformats.org/drawingml/2006/main">
              <a:ext uri="{FF2B5EF4-FFF2-40B4-BE49-F238E27FC236}">
                <a16:creationId xmlns:a16="http://schemas.microsoft.com/office/drawing/2014/main" id="{B9BA3A55-8EA7-4C76-9A02-F2DB9D80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node-2">
            <a:extLst xmlns:a="http://schemas.openxmlformats.org/drawingml/2006/main">
              <a:ext uri="{FF2B5EF4-FFF2-40B4-BE49-F238E27FC236}">
                <a16:creationId xmlns:a16="http://schemas.microsoft.com/office/drawing/2014/main" id="{D83FD088-DB16-49E3-AD1A-6EC04734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node-3">
            <a:extLst xmlns:a="http://schemas.openxmlformats.org/drawingml/2006/main">
              <a:ext uri="{FF2B5EF4-FFF2-40B4-BE49-F238E27FC236}">
                <a16:creationId xmlns:a16="http://schemas.microsoft.com/office/drawing/2014/main" id="{8A1CE228-BDEB-4CE7-9726-C1A760F2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node-4">
            <a:extLst xmlns:a="http://schemas.openxmlformats.org/drawingml/2006/main">
              <a:ext uri="{FF2B5EF4-FFF2-40B4-BE49-F238E27FC236}">
                <a16:creationId xmlns:a16="http://schemas.microsoft.com/office/drawing/2014/main" id="{B5EA0AE8-65F8-45A1-97BA-01CFA0A0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622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434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246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305800" y="32385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2FF"/>
            </a:solidFill>
            <a:prstDash val="solid"/>
            <a:tailEnd type="arrow" w="sm" len="sm"/>
          </a:ln>
        </p:spPr>
      </p:cxnSp>
      <p:sp>
        <p:nvSpPr>
          <p:cNvPr id="14" name="arch-num-0">
            <a:extLst xmlns:a="http://schemas.openxmlformats.org/drawingml/2006/main">
              <a:ext uri="{FF2B5EF4-FFF2-40B4-BE49-F238E27FC236}">
                <a16:creationId xmlns:a16="http://schemas.microsoft.com/office/drawing/2014/main" id="{4DF9A21B-585B-48BD-96E5-285A1363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1</a:t>
            </a:r>
          </a:p>
        </p:txBody>
      </p:sp>
      <p:sp>
        <p:nvSpPr>
          <p:cNvPr id="15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97137E4C-D7B8-46D1-B493-DEBEA892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Router</a:t>
            </a:r>
          </a:p>
        </p:txBody>
      </p:sp>
      <p:sp>
        <p:nvSpPr>
          <p:cNvPr id="16" name="arch-desc-0">
            <a:extLst xmlns:a="http://schemas.openxmlformats.org/drawingml/2006/main">
              <a:ext uri="{FF2B5EF4-FFF2-40B4-BE49-F238E27FC236}">
                <a16:creationId xmlns:a16="http://schemas.microsoft.com/office/drawing/2014/main" id="{F485E14E-22C1-43CD-9A62-018746CF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Intent + source plan</a:t>
            </a:r>
          </a:p>
        </p:txBody>
      </p:sp>
      <p:sp>
        <p:nvSpPr>
          <p:cNvPr id="17" name="arch-num-1">
            <a:extLst xmlns:a="http://schemas.openxmlformats.org/drawingml/2006/main">
              <a:ext uri="{FF2B5EF4-FFF2-40B4-BE49-F238E27FC236}">
                <a16:creationId xmlns:a16="http://schemas.microsoft.com/office/drawing/2014/main" id="{7B99BD1F-50A0-4F25-A864-DEBE30C2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2</a:t>
            </a:r>
          </a:p>
        </p:txBody>
      </p:sp>
      <p:sp>
        <p:nvSpPr>
          <p:cNvPr id="18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F2D49D07-EA43-4292-9834-AC6F0672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Retriever</a:t>
            </a:r>
          </a:p>
        </p:txBody>
      </p:sp>
      <p:sp>
        <p:nvSpPr>
          <p:cNvPr id="19" name="arch-desc-1">
            <a:extLst xmlns:a="http://schemas.openxmlformats.org/drawingml/2006/main">
              <a:ext uri="{FF2B5EF4-FFF2-40B4-BE49-F238E27FC236}">
                <a16:creationId xmlns:a16="http://schemas.microsoft.com/office/drawing/2014/main" id="{E72D4E70-C611-4746-8FF4-66CE06F9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Ranked cited chunks</a:t>
            </a:r>
          </a:p>
        </p:txBody>
      </p:sp>
      <p:sp>
        <p:nvSpPr>
          <p:cNvPr id="20" name="arch-num-2">
            <a:extLst xmlns:a="http://schemas.openxmlformats.org/drawingml/2006/main">
              <a:ext uri="{FF2B5EF4-FFF2-40B4-BE49-F238E27FC236}">
                <a16:creationId xmlns:a16="http://schemas.microsoft.com/office/drawing/2014/main" id="{67997FDA-50D2-4463-9D2F-0D6C990A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3</a:t>
            </a:r>
          </a:p>
        </p:txBody>
      </p:sp>
      <p:sp>
        <p:nvSpPr>
          <p:cNvPr id="21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4B6BD4E3-54B1-4CB4-92DD-93B818D3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Compose</a:t>
            </a:r>
          </a:p>
        </p:txBody>
      </p:sp>
      <p:sp>
        <p:nvSpPr>
          <p:cNvPr id="22" name="arch-desc-2">
            <a:extLst xmlns:a="http://schemas.openxmlformats.org/drawingml/2006/main">
              <a:ext uri="{FF2B5EF4-FFF2-40B4-BE49-F238E27FC236}">
                <a16:creationId xmlns:a16="http://schemas.microsoft.com/office/drawing/2014/main" id="{7E49A491-4D0E-4B9E-AAE0-1BD586E1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Actions + citations</a:t>
            </a:r>
          </a:p>
        </p:txBody>
      </p:sp>
      <p:sp>
        <p:nvSpPr>
          <p:cNvPr id="23" name="arch-num-3">
            <a:extLst xmlns:a="http://schemas.openxmlformats.org/drawingml/2006/main">
              <a:ext uri="{FF2B5EF4-FFF2-40B4-BE49-F238E27FC236}">
                <a16:creationId xmlns:a16="http://schemas.microsoft.com/office/drawing/2014/main" id="{73818F8D-5DD0-4119-AA3A-E8C66CA0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4</a:t>
            </a:r>
          </a:p>
        </p:txBody>
      </p:sp>
      <p:sp>
        <p:nvSpPr>
          <p:cNvPr id="24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EAF0CEEA-B27B-4A4C-85A3-5A0B2D8E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Verifier</a:t>
            </a:r>
          </a:p>
        </p:txBody>
      </p:sp>
      <p:sp>
        <p:nvSpPr>
          <p:cNvPr id="25" name="arch-desc-3">
            <a:extLst xmlns:a="http://schemas.openxmlformats.org/drawingml/2006/main">
              <a:ext uri="{FF2B5EF4-FFF2-40B4-BE49-F238E27FC236}">
                <a16:creationId xmlns:a16="http://schemas.microsoft.com/office/drawing/2014/main" id="{1DD787B8-B11C-4A3E-AA81-923190BF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Support + conflict score</a:t>
            </a:r>
          </a:p>
        </p:txBody>
      </p:sp>
      <p:sp>
        <p:nvSpPr>
          <p:cNvPr id="26" name="arch-num-4">
            <a:extLst xmlns:a="http://schemas.openxmlformats.org/drawingml/2006/main">
              <a:ext uri="{FF2B5EF4-FFF2-40B4-BE49-F238E27FC236}">
                <a16:creationId xmlns:a16="http://schemas.microsoft.com/office/drawing/2014/main" id="{B66B3020-2CB4-4FDE-AFCF-867209A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5</a:t>
            </a:r>
          </a:p>
        </p:txBody>
      </p:sp>
      <p:sp>
        <p:nvSpPr>
          <p:cNvPr id="27" name="arch-label-4">
            <a:extLst xmlns:a="http://schemas.openxmlformats.org/drawingml/2006/main">
              <a:ext uri="{FF2B5EF4-FFF2-40B4-BE49-F238E27FC236}">
                <a16:creationId xmlns:a16="http://schemas.microsoft.com/office/drawing/2014/main" id="{EFF1E9CD-7E97-4865-B845-1B6A43C4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9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Decide</a:t>
            </a:r>
          </a:p>
        </p:txBody>
      </p:sp>
      <p:sp>
        <p:nvSpPr>
          <p:cNvPr id="28" name="arch-desc-4">
            <a:extLst xmlns:a="http://schemas.openxmlformats.org/drawingml/2006/main">
              <a:ext uri="{FF2B5EF4-FFF2-40B4-BE49-F238E27FC236}">
                <a16:creationId xmlns:a16="http://schemas.microsoft.com/office/drawing/2014/main" id="{F9BDCBE2-C96A-4FEE-90B8-E01B9AFA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Answer / options / abstain</a:t>
            </a:r>
          </a:p>
        </p:txBody>
      </p:sp>
      <p:sp>
        <p:nvSpPr>
          <p:cNvPr id="29" name="arch-input">
            <a:extLst xmlns:a="http://schemas.openxmlformats.org/drawingml/2006/main">
              <a:ext uri="{FF2B5EF4-FFF2-40B4-BE49-F238E27FC236}">
                <a16:creationId xmlns:a16="http://schemas.microsoft.com/office/drawing/2014/main" id="{7B2E5738-5011-47F8-8171-F0F2583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Question + user context</a:t>
            </a:r>
          </a:p>
        </p:txBody>
      </p:sp>
      <p:sp>
        <p:nvSpPr>
          <p:cNvPr id="30" name="arch-output">
            <a:extLst xmlns:a="http://schemas.openxmlformats.org/drawingml/2006/main">
              <a:ext uri="{FF2B5EF4-FFF2-40B4-BE49-F238E27FC236}">
                <a16:creationId xmlns:a16="http://schemas.microsoft.com/office/drawing/2014/main" id="{8ABCA837-061C-4357-B963-6950A00E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05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672FF"/>
                </a:solidFill>
              </a:defRPr>
            </a:pPr>
            <a:r>
              <a:rPr sz="1350" b="1">
                <a:solidFill>
                  <a:srgbClr val="2672FF"/>
                </a:solidFill>
              </a:rPr>
              <a:t>Response contract</a:t>
            </a:r>
          </a:p>
        </p:txBody>
      </p:sp>
      <p:sp>
        <p:nvSpPr>
          <p:cNvPr id="31" name="arch-control">
            <a:extLst xmlns:a="http://schemas.openxmlformats.org/drawingml/2006/main">
              <a:ext uri="{FF2B5EF4-FFF2-40B4-BE49-F238E27FC236}">
                <a16:creationId xmlns:a16="http://schemas.microsoft.com/office/drawing/2014/main" id="{FF40E595-3171-4141-845E-BC1D4F7C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14900"/>
            <a:ext cx="815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Python owns sequencing, thresholds, and failure handling. Gemini reasons inside bounded prompts; every stage returns structured JSON that can be logged and evaluated.</a:t>
            </a:r>
          </a:p>
        </p:txBody>
      </p:sp>
    </p:spTree>
    <p:extLst>
      <p:ext uri="{BB962C8B-B14F-4D97-AF65-F5344CB8AC3E}">
        <p14:creationId xmlns:p14="http://schemas.microsoft.com/office/powerpoint/2010/main" val="12921785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FE3081EB-8114-4235-BC4F-49D6110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LIVE PRODUCT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66C3F2A-D981-4573-BCB5-0302BF4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The prototype is deployed and usable end to end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C14130D-75B4-41E0-A577-A33BA74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29F29AB-30CA-403D-98E0-088DE87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5" name="problem-head">
            <a:extLst xmlns:a="http://schemas.openxmlformats.org/drawingml/2006/main">
              <a:ext uri="{FF2B5EF4-FFF2-40B4-BE49-F238E27FC236}">
                <a16:creationId xmlns:a16="http://schemas.microsoft.com/office/drawing/2014/main" id="{94668640-FF05-4967-ABE9-9E82848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Production-like proof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A256E2C0-ED6C-45EA-890F-3E5E8B2B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React UI on Fly.io calls the FastAPI agent, waits for the grounded response, and renders its decision, support score, and citations.</a:t>
            </a:r>
          </a:p>
        </p:txBody>
      </p:sp>
      <p:sp>
        <p:nvSpPr>
          <p:cNvPr id="7" name="mid-arrow-line">
            <a:extLst xmlns:a="http://schemas.openxmlformats.org/drawingml/2006/main">
              <a:ext uri="{FF2B5EF4-FFF2-40B4-BE49-F238E27FC236}">
                <a16:creationId xmlns:a16="http://schemas.microsoft.com/office/drawing/2014/main" id="{FEFC8709-BE05-44D5-BD02-C972BAC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43200"/>
            <a:ext cx="1095375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mid-arrow">
            <a:extLst xmlns:a="http://schemas.openxmlformats.org/drawingml/2006/main">
              <a:ext uri="{FF2B5EF4-FFF2-40B4-BE49-F238E27FC236}">
                <a16:creationId xmlns:a16="http://schemas.microsoft.com/office/drawing/2014/main" id="{53E33F00-8E6A-4B63-898C-2352484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39077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2672FF"/>
                </a:solidFill>
              </a:defRPr>
            </a:pPr>
            <a:r>
              <a:rPr sz="3150" b="1">
                <a:solidFill>
                  <a:srgbClr val="2672FF"/>
                </a:solidFill>
              </a:rPr>
              <a:t/>
            </a:r>
          </a:p>
        </p:txBody>
      </p:sp>
      <p:sp>
        <p:nvSpPr>
          <p:cNvPr id="9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913F41E3-8BA0-470B-8C75-315D89FA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33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C416B76D-8FE1-4EE4-9DFE-3B4F15E2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52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672FF"/>
                </a:solidFill>
              </a:defRPr>
            </a:pPr>
            <a:r>
              <a:rPr sz="1875" b="1">
                <a:solidFill>
                  <a:srgbClr val="2672FF"/>
                </a:solidFill>
              </a:rPr>
              <a:t/>
            </a:r>
          </a:p>
        </p:txBody>
      </p:sp>
      <p:sp>
        <p:nvSpPr>
          <p:cNvPr id="11" name="outcome-main">
            <a:extLst xmlns:a="http://schemas.openxmlformats.org/drawingml/2006/main">
              <a:ext uri="{FF2B5EF4-FFF2-40B4-BE49-F238E27FC236}">
                <a16:creationId xmlns:a16="http://schemas.microsoft.com/office/drawing/2014/main" id="{516A60A7-FDCC-4297-90CF-DB68967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/>
            </a:r>
          </a:p>
        </p:txBody>
      </p:sp>
      <p:sp>
        <p:nvSpPr>
          <p:cNvPr id="12" name="outcome-copy">
            <a:extLst xmlns:a="http://schemas.openxmlformats.org/drawingml/2006/main">
              <a:ext uri="{FF2B5EF4-FFF2-40B4-BE49-F238E27FC236}">
                <a16:creationId xmlns:a16="http://schemas.microsoft.com/office/drawing/2014/main" id="{2D6F7F07-86C4-4864-A980-00130464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3905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/>
            </a:r>
          </a:p>
        </p:txBody>
      </p:sp>
      <p:sp>
        <p:nvSpPr>
          <p:cNvPr id="13" name="guardrail">
            <a:extLst xmlns:a="http://schemas.openxmlformats.org/drawingml/2006/main">
              <a:ext uri="{FF2B5EF4-FFF2-40B4-BE49-F238E27FC236}">
                <a16:creationId xmlns:a16="http://schemas.microsoft.com/office/drawing/2014/main" id="{20CC574E-D6ED-4D70-97FF-797C6468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8A5B"/>
                </a:solidFill>
              </a:defRPr>
            </a:pPr>
            <a:r>
              <a:rPr sz="1725" b="1">
                <a:solidFill>
                  <a:srgbClr val="168A5B"/>
                </a:solidFill>
              </a:rPr>
              <a:t>Browser-tested: question → agent workflow → answer → browsable source section.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6d2aff8014d55"/>
          <a:stretch xmlns:a="http://schemas.openxmlformats.org/drawingml/2006/main"/>
        </p:blipFill>
        <p:spPr>
          <a:xfrm xmlns:a="http://schemas.openxmlformats.org/drawingml/2006/main">
            <a:off x="6667500" y="1994297"/>
            <a:ext cx="4743450" cy="2964656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</p:spTree>
    <p:extLst>
      <p:ext uri="{BB962C8B-B14F-4D97-AF65-F5344CB8AC3E}">
        <p14:creationId xmlns:p14="http://schemas.microsoft.com/office/powerpoint/2010/main" val="1457391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6">
            <a:extLst xmlns:a="http://schemas.openxmlformats.org/drawingml/2006/main">
              <a:ext uri="{FF2B5EF4-FFF2-40B4-BE49-F238E27FC236}">
                <a16:creationId xmlns:a16="http://schemas.microsoft.com/office/drawing/2014/main" id="{774D2E84-C6DA-4D64-A67B-20E5AF6D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BENCHMARK DETAIL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1CCC3FA-B719-41F3-85DE-FF4DCFB2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Five live cases make strengths and gaps explicit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B26D1E2F-6490-4E1F-86D5-76EB5DC2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0CB533F-02F2-440E-9E9E-018AFA0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09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5810250" cy="2971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384a653fa940a9"/>
          </a:graphicData>
        </a:graphic>
      </p:graphicFrame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E678C0E7-B64D-4DD0-B3DA-82C031BC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5/5</a:t>
            </a:r>
          </a:p>
        </p:txBody>
      </p:sp>
      <p:sp>
        <p:nvSpPr>
          <p:cNvPr id="7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515126BE-EC52-4F4E-9EA7-8B3FD47A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7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safe responses</a:t>
            </a:r>
          </a:p>
        </p:txBody>
      </p:sp>
      <p:sp>
        <p:nvSpPr>
          <p:cNvPr id="8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AE6E7B92-BC3E-4A50-81EE-4F129CF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063FBED4-22DE-45BE-8093-148BF7E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672FF"/>
                </a:solidFill>
              </a:defRPr>
            </a:pPr>
            <a:r>
              <a:rPr sz="3600" b="1">
                <a:solidFill>
                  <a:srgbClr val="2672FF"/>
                </a:solidFill>
              </a:rPr>
              <a:t>3/5</a:t>
            </a:r>
          </a:p>
        </p:txBody>
      </p:sp>
      <p:sp>
        <p:nvSpPr>
          <p:cNvPr id="10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8080DEB3-DDF3-40E9-AF91-68740A5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full passes</a:t>
            </a:r>
          </a:p>
        </p:txBody>
      </p:sp>
      <p:sp>
        <p:nvSpPr>
          <p:cNvPr id="11" name="benchmark-rule">
            <a:extLst xmlns:a="http://schemas.openxmlformats.org/drawingml/2006/main">
              <a:ext uri="{FF2B5EF4-FFF2-40B4-BE49-F238E27FC236}">
                <a16:creationId xmlns:a16="http://schemas.microsoft.com/office/drawing/2014/main" id="{107B873C-C8EA-4B78-B16F-BA02B085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enchmark-learning-head">
            <a:extLst xmlns:a="http://schemas.openxmlformats.org/drawingml/2006/main">
              <a:ext uri="{FF2B5EF4-FFF2-40B4-BE49-F238E27FC236}">
                <a16:creationId xmlns:a16="http://schemas.microsoft.com/office/drawing/2014/main" id="{AC989640-3771-414E-ABED-7E697BC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Two actionable failures</a:t>
            </a:r>
          </a:p>
        </p:txBody>
      </p:sp>
      <p:sp>
        <p:nvSpPr>
          <p:cNvPr id="13" name="benchmark-learning">
            <a:extLst xmlns:a="http://schemas.openxmlformats.org/drawingml/2006/main">
              <a:ext uri="{FF2B5EF4-FFF2-40B4-BE49-F238E27FC236}">
                <a16:creationId xmlns:a16="http://schemas.microsoft.com/office/drawing/2014/main" id="{F53BCD4D-8811-4269-A21C-874F3292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B03: correct direction, but omitted the exact five-package restart check.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B05: safely said torque was absent, but confidence semantics still marked the question answerable.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Fix: preserve quantities and gate on requested-fact availability.</a:t>
            </a:r>
          </a:p>
        </p:txBody>
      </p:sp>
      <p:sp>
        <p:nvSpPr>
          <p:cNvPr id="14" name="benchmark-footer">
            <a:extLst xmlns:a="http://schemas.openxmlformats.org/drawingml/2006/main">
              <a:ext uri="{FF2B5EF4-FFF2-40B4-BE49-F238E27FC236}">
                <a16:creationId xmlns:a16="http://schemas.microsoft.com/office/drawing/2014/main" id="{4DC8B0A9-0E24-4539-9CF9-EC6E12B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85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8A5B"/>
                </a:solidFill>
              </a:defRPr>
            </a:pPr>
            <a:r>
              <a:rPr sz="1575" b="1">
                <a:solidFill>
                  <a:srgbClr val="168A5B"/>
                </a:solidFill>
              </a:rPr>
              <a:t>Average check score: 86.6% · Transparent six-check rubric · 184.7 seconds across five live calls</a:t>
            </a:r>
          </a:p>
        </p:txBody>
      </p:sp>
    </p:spTree>
    <p:extLst>
      <p:ext uri="{BB962C8B-B14F-4D97-AF65-F5344CB8AC3E}">
        <p14:creationId xmlns:p14="http://schemas.microsoft.com/office/powerpoint/2010/main" val="1293099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FE3081EB-8114-4235-BC4F-49D6110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RECOMMENDATION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66C3F2A-D981-4573-BCB5-0302BF4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Move from prototype to a controlled line-level pilot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C14130D-75B4-41E0-A577-A33BA74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29F29AB-30CA-403D-98E0-088DE87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5" name="problem-head">
            <a:extLst xmlns:a="http://schemas.openxmlformats.org/drawingml/2006/main">
              <a:ext uri="{FF2B5EF4-FFF2-40B4-BE49-F238E27FC236}">
                <a16:creationId xmlns:a16="http://schemas.microsoft.com/office/drawing/2014/main" id="{94668640-FF05-4967-ABE9-9E82848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Prototype proved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A256E2C0-ED6C-45EA-890F-3E5E8B2B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Cross-source routing, cited retrieval, adaptive answers, explicit support scoring, browsable evidence, live deployment, and a repeatable benchmark.</a:t>
            </a:r>
          </a:p>
        </p:txBody>
      </p:sp>
      <p:sp>
        <p:nvSpPr>
          <p:cNvPr id="7" name="mid-arrow-line">
            <a:extLst xmlns:a="http://schemas.openxmlformats.org/drawingml/2006/main">
              <a:ext uri="{FF2B5EF4-FFF2-40B4-BE49-F238E27FC236}">
                <a16:creationId xmlns:a16="http://schemas.microsoft.com/office/drawing/2014/main" id="{FEFC8709-BE05-44D5-BD02-C972BAC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43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d-arrow">
            <a:extLst xmlns:a="http://schemas.openxmlformats.org/drawingml/2006/main">
              <a:ext uri="{FF2B5EF4-FFF2-40B4-BE49-F238E27FC236}">
                <a16:creationId xmlns:a16="http://schemas.microsoft.com/office/drawing/2014/main" id="{53E33F00-8E6A-4B63-898C-2352484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39077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2672FF"/>
                </a:solidFill>
              </a:defRPr>
            </a:pPr>
            <a:r>
              <a:rPr sz="3150" b="1">
                <a:solidFill>
                  <a:srgbClr val="2672FF"/>
                </a:solidFill>
              </a:rPr>
              <a:t>→</a:t>
            </a:r>
          </a:p>
        </p:txBody>
      </p:sp>
      <p:sp>
        <p:nvSpPr>
          <p:cNvPr id="9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913F41E3-8BA0-470B-8C75-315D89FA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33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C416B76D-8FE1-4EE4-9DFE-3B4F15E2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52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672FF"/>
                </a:solidFill>
              </a:defRPr>
            </a:pPr>
            <a:r>
              <a:rPr sz="1875" b="1">
                <a:solidFill>
                  <a:srgbClr val="2672FF"/>
                </a:solidFill>
              </a:rPr>
              <a:t>Production hardening</a:t>
            </a:r>
          </a:p>
        </p:txBody>
      </p:sp>
      <p:sp>
        <p:nvSpPr>
          <p:cNvPr id="11" name="outcome-main">
            <a:extLst xmlns:a="http://schemas.openxmlformats.org/drawingml/2006/main">
              <a:ext uri="{FF2B5EF4-FFF2-40B4-BE49-F238E27FC236}">
                <a16:creationId xmlns:a16="http://schemas.microsoft.com/office/drawing/2014/main" id="{516A60A7-FDCC-4297-90CF-DB68967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Three focused controls</a:t>
            </a:r>
          </a:p>
        </p:txBody>
      </p:sp>
      <p:sp>
        <p:nvSpPr>
          <p:cNvPr id="12" name="outcome-copy">
            <a:extLst xmlns:a="http://schemas.openxmlformats.org/drawingml/2006/main">
              <a:ext uri="{FF2B5EF4-FFF2-40B4-BE49-F238E27FC236}">
                <a16:creationId xmlns:a16="http://schemas.microsoft.com/office/drawing/2014/main" id="{2D6F7F07-86C4-4864-A980-00130464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3905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1. Add a requested-fact answerability gate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2. Run semantic + deterministic evals in CI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3. Add real ingestion, identity, permissions, and audit logs</a:t>
            </a:r>
          </a:p>
        </p:txBody>
      </p:sp>
      <p:sp>
        <p:nvSpPr>
          <p:cNvPr id="13" name="guardrail">
            <a:extLst xmlns:a="http://schemas.openxmlformats.org/drawingml/2006/main">
              <a:ext uri="{FF2B5EF4-FFF2-40B4-BE49-F238E27FC236}">
                <a16:creationId xmlns:a16="http://schemas.microsoft.com/office/drawing/2014/main" id="{20CC574E-D6ED-4D70-97FF-797C6468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8A5B"/>
                </a:solidFill>
              </a:defRPr>
            </a:pPr>
            <a:r>
              <a:rPr sz="1725" b="1">
                <a:solidFill>
                  <a:srgbClr val="168A5B"/>
                </a:solidFill>
              </a:rPr>
              <a:t>Pilot one line with one accountable owner; measure response usefulness, safe escalation, and time-to-decision.</a:t>
            </a:r>
          </a:p>
        </p:txBody>
      </p:sp>
    </p:spTree>
    <p:extLst>
      <p:ext uri="{BB962C8B-B14F-4D97-AF65-F5344CB8AC3E}">
        <p14:creationId xmlns:p14="http://schemas.microsoft.com/office/powerpoint/2010/main" val="1457391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2026-09-01T23:01:00.6500000Z</dcterms:created>
  <dcterms:modified xsi:type="dcterms:W3CDTF">2026-09-01T23:01:00.6500000Z</dcterms:modified>
</coreProperties>
</file>